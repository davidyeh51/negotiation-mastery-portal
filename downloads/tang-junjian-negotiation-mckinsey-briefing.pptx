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本頁結論：凡是商業與職場中「我要、但無法輕易取得」的目標，皆需透過「以己為先、併用理性與非理性、聯手共創」的談判來實現。</a:t>
            </a:r>
          </a:p>
          <a:p>
            <a:r>
              <a:t>② 圖表解讀：缺乏談判訓練者常陷入爭吵破局或無端妥協兩個極端；真正的高手給人的核心印象是「可靠」。</a:t>
            </a:r>
          </a:p>
          <a:p>
            <a:r>
              <a:t>③ 行動呼籲：請先列出本季 3 項最關鍵的「我要」清單，帶著具體問題進入下一頁的全課戰略架構。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本頁結論：全課程濃縮為「一核心、三層循環、兩道防線」架構，四個作戰階段在各層皆有對應工具。</a:t>
            </a:r>
          </a:p>
          <a:p>
            <a:r>
              <a:t>② 圖表解讀：當價格卡死時主動切換至條件層，條款耗盡時升級至價值層把餅做大，做大後仍須回歸價格層完成分配。</a:t>
            </a:r>
          </a:p>
          <a:p>
            <a:r>
              <a:t>③ 行動呼籲：掌握全局藍圖後，下一頁進入第 1 講「正確認識談判」。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本頁結論：談判三大要點為「以己方目的為先、併用理性與非理性、聯手找方案」，核心在於穿透表面訴求挖掘真實需求。</a:t>
            </a:r>
          </a:p>
          <a:p>
            <a:r>
              <a:t>② 圖表解讀：分橘子案例證明，表面看似零和的數量爭奪，只要挖出果皮與果肉的真實需求即可化為雙贏。</a:t>
            </a:r>
          </a:p>
          <a:p>
            <a:r>
              <a:t>③ 行動呼籲：從下一場商務會談起，請將 7 項會前準備清單納入標準流程。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本頁結論：任何複雜談判皆可拆解為價格、條件、價值三種模型，卡在單價時應果斷推向條件交換或價值共創。</a:t>
            </a:r>
          </a:p>
          <a:p>
            <a:r>
              <a:t>② 圖表解讀：引導孩子看電視的三層次案例，清楚展示了從零和折衷到條件交換、再到創造教育新價值的升級路徑。</a:t>
            </a:r>
          </a:p>
          <a:p>
            <a:r>
              <a:t>③ 行動呼籲：接下來第 2 講，我們深入剖析第一層模型——鍛鍊所有談判基本功的「價格類談判」。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本頁結論：價格談判的勝負有七成取決於會前準備：以機會成本定底線、以市場尺子定目標，並拆解成本做到真正懂行。</a:t>
            </a:r>
          </a:p>
          <a:p>
            <a:r>
              <a:t>② 圖表解讀：底線以機會成本定義，證明「多備一家報價」本身就能直接提升談判籌碼。</a:t>
            </a:r>
          </a:p>
          <a:p>
            <a:r>
              <a:t>③ 行動呼籲：完成準備坐上談判桌後，該由誰先報價？報完價後該做什麼？請看下一頁。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本頁結論：依資訊對稱度決定先後手，依合作關係選用高報價或合理報價，並嚴守「報價前講理由、報完價立刻閉嘴」。</a:t>
            </a:r>
          </a:p>
          <a:p>
            <a:r>
              <a:t>② 圖表解讀：把所有支撐理由放在報出數字前講完；報出價格後的沉默能給對手最大心理壓力。</a:t>
            </a:r>
          </a:p>
          <a:p>
            <a:r>
              <a:t>③ 行動呼籲：進入還價拉鋸時，對手常祭出「不降價就不談了」的離桌威脅，下一頁解析如何識破真偽並執行遞減讓步。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本頁結論：從「具體使用場景挑刺」識破假離桌威脅，並嚴守「不一步到位、不情願、幅度遞減」三大讓步紀律。</a:t>
            </a:r>
          </a:p>
          <a:p>
            <a:r>
              <a:t>② 圖表解讀：真正準備放棄交易的人懶得耗費口舌挑刺；會帶入擺床、乘坐場景的人內心早已準備成交。</a:t>
            </a:r>
          </a:p>
          <a:p>
            <a:r>
              <a:t>③ 行動呼籲：當價格讓至底線仍無法成交時，應立即切換至第 3 講「條件類談判」，以多維條款交換破局。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本頁結論：將所有可談條款列成清單並分為主要、次要、底線三級，再透過吹風會與假設性提問摸清對方真實優先序。</a:t>
            </a:r>
          </a:p>
          <a:p>
            <a:r>
              <a:t>② 圖表解讀：二選一假設性問題能穿透對方的客套防線，讓其選擇直接暴露真實價值權重。</a:t>
            </a:r>
          </a:p>
          <a:p>
            <a:r>
              <a:t>③ 行動呼籲：摸清雙方條件優先序後，如何找到「最佳可替代方案」並執行條件交換？請看下一頁。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本頁結論：挖掘苛刻條件背後的真實顧慮以設計最佳可替代方案，並嚴守「讓次要、不情願、條件換條件」三原則。</a:t>
            </a:r>
          </a:p>
          <a:p>
            <a:r>
              <a:t>② 圖表解讀：「換新空調」即防禦緩衝帶——迫使對方在承擔新成本與撤回原要求之間二選一。</a:t>
            </a:r>
          </a:p>
          <a:p>
            <a:r>
              <a:t>③ 行動呼籲：當既有條款全部交換完畢仍無交集時，就必須啟動第 4 講高階破局武器——「價值類談判」。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本頁結論：當價格與既有條件皆陷入死局時，透過納入第三方（顧客）構成價值鏈三角形，共同做大總利潤額。</a:t>
            </a:r>
          </a:p>
          <a:p>
            <a:r>
              <a:t>② 圖表解讀：不管供應商與採購所在的底邊如何切分，三角形面積都不變；唯有把顧客頂點拉高，總利潤面積才會擴大。</a:t>
            </a:r>
          </a:p>
          <a:p>
            <a:r>
              <a:t>③ 行動呼籲：構思出做大蛋糕的新方案後，該如何說服對方的組織決策鏈共同投入資源？請看下一頁。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本頁結論：先探詢對方戰略以「搭順風車」，再透過量化數據、A/B/C 三選項與決策鏈三角色精準完成組織說服。</a:t>
            </a:r>
          </a:p>
          <a:p>
            <a:r>
              <a:t>② 圖表解讀：提供上中下三策能將對方的決策心理從「要不要合作」轉化為「選哪一個方案」。</a:t>
            </a:r>
          </a:p>
          <a:p>
            <a:r>
              <a:t>③ 行動呼籲：掌握三層戰術後，最後兩講將築起支撐所有技巧的底層防線：第 5 講「談判心態與心理戰防禦」。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本頁結論：建立「沒有非成交不可」的離桌底氣，認清「雙贏是結果而非目的」，並以「對事不對人」與「主動喊停」控管情緒。</a:t>
            </a:r>
          </a:p>
          <a:p>
            <a:r>
              <a:t>② 圖表解讀：短期無原則妥協換不來長期好關係，只會養成對方的索取慣性。</a:t>
            </a:r>
          </a:p>
          <a:p>
            <a:r>
              <a:t>③ 行動呼籲：穩固自身心態後，當對手祭出五種常見心理戰施壓時，該如何一眼識破並反制？請看下一頁。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本頁結論：面對五大心理戰，只需識破底層演戲邏輯並以標準話術反問或點破，即可將談判拉回正軌。</a:t>
            </a:r>
          </a:p>
          <a:p>
            <a:r>
              <a:t>② 圖表解讀：家樂福信條與點破紅白臉話術極具實戰價值，同時應確保團隊談判時雙方出席人數對等。</a:t>
            </a:r>
          </a:p>
          <a:p>
            <a:r>
              <a:t>③ 行動呼籲：具備內在心理防線後，外在的語言與肢體該如何精準配合？請看第 6 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本頁結論：貫徹「態度要誠懇、立場要堅定、身段要柔軟」三柱姿態，確保語言與肢體動作高度一致。</a:t>
            </a:r>
          </a:p>
          <a:p>
            <a:r>
              <a:t>② 圖表解讀：標準拒絕公式將「堅守底線（關門）」與「開放協商（指路）」合二為一，完美化解拒絕後的僵局。</a:t>
            </a:r>
          </a:p>
          <a:p>
            <a:r>
              <a:t>③ 行動呼籲：完成六講核心內容後，下一頁將全課八條邏輯因果鏈與 B2B 顧問式銷售框架進行整合。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本頁結論：將全課程串聯為八條邏輯因果鏈，並與 B2B 顧問式銷售形成「前段價值控盤、後段議價收官」的完整閉環。</a:t>
            </a:r>
          </a:p>
          <a:p>
            <a:r>
              <a:t>② 圖表解讀：沒有前段的機會成本備案與條款三級分類，後段的立場堅定與拒絕公式就會淪為無根之木。</a:t>
            </a:r>
          </a:p>
          <a:p>
            <a:r>
              <a:t>③ 行動呼籲：最後一頁，我們將全課所有核心工具收斂為進場前 15 分鐘必填的「談判前一頁紙」。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本頁結論：將全課程六講方法論收斂為進場前 15 分鐘必填的「談判前一頁紙」，在實戰中同時贏得商業利益與對手尊重。</a:t>
            </a:r>
          </a:p>
          <a:p>
            <a:r>
              <a:t>② 圖表解讀：五格作戰畫布整合了底線目標、三級條款、假設提問、價值鏈三角形與拒絕公式，可直接印出帶入會議室。</a:t>
            </a:r>
          </a:p>
          <a:p>
            <a:r>
              <a:t>③ 結語：恭喜完成湯君健《有效提升你的談判能力》16 頁麥肯錫精華簡報研習！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01 / 16 ｜ LEVEL 1 入門基礎 ｜ 發刊詞：核心定義與專家特質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談判是幫你解決「我要」的問題：運用決策中的理性與非理性因素，以己方目標為先並與對手聯手共創方案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核心定位：凡是「我要」皆屬談判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從購車議價、房產交易、職場談薪到跨部門資源爭取——凡是「我要」但無法輕易取得的目標皆屬談判。缺乏談判力易陷入兩極誤區：①衝突升級破局；②懼怕衝突淪為「軟柿子」。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標準定義：談判三大核心要素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同時運用決策中的【理性與非理性因素】；② 堅守【以己方目標（我要）為先】；③ 與對手【聯手找到解決方案】。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專家畫像：「可靠」特質 × 甲乙方視角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頂尖談判者非咄咄逼人，而是「可靠」（守原則、重信譽、找方案、換位思考）。作者兼具寶潔8年渠道總監（乙方，年談判規模10億級）與電商企業大學校長（甲方）實戰經驗。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評估維度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新手常見誤區（入門避坑）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專家標準法則（核心機制）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進階商務實戰行動指標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本質與目標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視為口才辯論賽，或怕衝突無端退讓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以己方目的為先 × 聯手設計解決方案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進場前書面確立不可動搖的「我要」目標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決策驅動因素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單靠價格砍殺，或單憑人情關係擺平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併用理性（數據/利益）與非理性（情感/氣場）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同步準備客觀成本數據與會議氣場設計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專家核心形象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伶牙俐齒、強勢壓人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「可靠」：原則性強、守信、專注解決問題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列出本季 3 項「我要」目標作為演練標的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02 / 16 ｜ LEVEL 1–3 全景架構 ｜ 一核心、三層循環、兩道防線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全課戰略骨架：以「我要」為核心，串聯價格、條件、價值三層循環模型，並由心態與姿態築起兩道防線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一核心 ＋ 三層動態循環模型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核心：以「我要」為先。三層由簡入繁：L1 價格談判（零和分配）→ L2 條件談判（多維交換）→ L3 價值談判（納入第三方把餅做大）→ 做大後回歸 L1 價格分配。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內外兩道防線（貫穿三層模型）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防線一（第5講內在心態）：建立離桌底氣、對事不對人、破解五大心理戰。防線二（第6講外在姿態）：態度誠懇、立場堅定、身段柔軟，善用標準拒絕公式。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全週期合約控盤與延伸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課程中之「條件類談判」與「交換類談判」實為同一概念。進階管理者於簽約後須同步建立履約里程碑檢核，確保協議成果完整落地。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作戰階段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L1 價格類談判（第 2 講）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L2 條件類談判（第 3 講）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L3 價值類談判（第 4 講）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心態與姿態防線（第 5–6 講）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進場準備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機會成本底線、市場尺子、拆解成本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盤點 20+ 條款分為主要/次要/底線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繪製含顧客第三方價值鏈、精算增量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確立離桌替代方案、展示會前準備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資訊刺探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依資訊對稱度決定先後手、要求明細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中層吹風會、優先排序題、假設題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探詢對方年度戰略規劃搭順風車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切忌探問底線、改問期望之理想結果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讓步與破局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識破假離桌、執行不情願遞減讓步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讓次要保主要、條件換條件(緩衝帶)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設計 A/B/C 三方案對接決策三角色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主動喊停休息、拒絕公式(關門指路)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03 / 16 ｜ LEVEL 1 入門基礎 ｜ 第 1 講（上）表面訴求 vs 真實需求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1 講（上）表面訴求不等於真實需求：堅守「以己方目的為先」，透過資訊交換與加工挖掘對方的「橘子皮」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分橘子冰山模型：表面立場 vs 真實需求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雙方表面爭奪 5 顆橘子數量（訴諸公平與權力陷入零和），實則一方需要果肉榨汁、一方需要果皮做小橘燈；皮肉分離即可各自取得 100% 所需資源。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要點一＆二：向前爭取 ＋ 理性非理性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以己方目的為先：明確訴求且不動搖，靠「向前爭取」而非退讓。② 併用理性與非理性：涵蓋需求、資訊、利益計算、對手性格、議程、會場及靠牆座位配置等 7 項清單。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要點三：聯手找方案（資訊交換＋加工）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商務談判無全知第三方裁判，須靠自己提問刺探需求（資訊交換），並換位思考解讀潛台詞（資訊加工），挖出對方的真實用途。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準備維度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新手常見誤區（入門避坑）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專家標準法則（7 項準備清單）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進階商務實戰行動指標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理性利益維度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僅看表面開價，忽略背後真實動機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①雙方需求挖掘、②資訊蒐集、③利益計算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會前拆解對手的表面立場與真實用途(橘子皮)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人物性格維度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忽略談判對手個人的決策風格與偏好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④調研對手個人喜好與性格特點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針對數據型、權威型或關係型對手配置策略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環境氣場維度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隨機入座，被動跟隨對方會議節奏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⑤議程設計、⑥會場布置、⑦主客座位安排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主場談判將核心對手安排於背靠牆座位控場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04 / 16 ｜ LEVEL 1 入門基礎 ｜ 第 1 講（下）三種基本模型與跨層切換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1 講（下）複雜談判皆可拆解為三種基本模型：先辨識所處層次，並在卡關時主動推動談判跨層升級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三種基本模型（由簡入繁・常混合存在）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價格談判：單維度零和博弈，存量分配。② 條件談判：引入付款方式、交期、良率等多重砝碼，各取所需。③ 價值談判：超越既有條款，共同投入創造新價值。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生活實例：引導孩子不看電視的三層演繹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價格層：主張3分鐘 vs 5分鐘，折衷4分鐘成交。② 條件層：現在立刻關電視，週末才帶去公園玩（條件換條件）。③ 價值層：可以看，但看完須把故事完整複述一遍。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主動跨層切換 ＆ 外交官 13 項能力標準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對方拒不降價時主動切換至條件層；把餅做大後仍須回歸價格分配。附美國國務院外事人員 13 項標準（冷靜、資訊整合分析、判斷力、定量分析、靈活應變等）。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談判基本模型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利益結構與核心特徵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經典生活與商業案例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進階商務實戰應用場景（B2B 採購／銷售）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價格談判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單一變數議價；典型零和存量分配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標準商品討價還價；看電視 4 分鐘成交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大宗標準品現貨採購、單一產品報價折扣協商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條件談判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多變數組合；利用偏好差異不等價交換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立刻關電視換週末去公園；房產戶型與付款協商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單價 × 付款帳期(現結/季結) × 交期 × 保固年限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價值談判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深度合作；共同投入資源創造增量價值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看完電視複述故事練表達；共推女性專屬手機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策略聯盟、聯合行銷、納入終端客戶之增值分潤案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05 / 16 ｜ LEVEL 1–2 入門至進階 ｜ 第 2 講（上）機會成本底線與成本拆解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2 講（上）善戰者立於不敗之地：以機會成本設定底線、以市場尺子錨定目標，並拆解供應鏈成本做到「真正懂行」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精準定義：底線（機會成本）與目標（市場尺子）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底線價＝心理最低價或手頭備選之【機會成本】（已有12.5元買家，底線即鎖定12.5元）。目標價＝以市場行情為客觀尺子，設定努力可及高標並附支撐理由。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成本結構反推法：6 個月做到「真正懂行」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零售巨頭首席商品官年輕採購紅酒時，耗時6個月研習紅酒課程、考察產地，摸透原酒、包材、溫控儲運成本與平均毛利，直接攤開數據剔除供應商虛高溢價。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《孫子兵法》善戰者立於不敗之地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深度調研旨在確保決策不因一時衝動而吃大虧。日常小額採購無須過度耗時，但大宗合約與跳槽談薪（決定未來數年調薪基數）影響深遠，必須做足調研。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準備核心要素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新手常見誤區（入門避坑）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專家標準法則（核心機制）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進階商務實戰行動指標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底線價設定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憑主觀感覺設底線，未準備任何備選方案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以手頭既有替代選項之「機會成本」鎖定底線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議價前取得至少 2～3 家合格備選報價墊高底線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目標價錨定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不諳市場行情卻盲目喊價，瞬間暴露外行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以市場客觀行情為尺子，設定高標並備妥理由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書面列出「底線—目標價」區間與 3 項差異化理由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供應鏈拆解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只看最終總報價，無法分辨虛高水分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拆解原材料、加工、物流與合理毛利反推底價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橫向比對 5 家以上報價單，建立成本結構拆解表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06 / 16 ｜ LEVEL 2 進階實戰 ｜ 第 2 講（中）報價先後手與沉默鐵律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2 講（中）掌握報價主動權：依資訊對稱度決定先後手，靈活選用高報價或合理報價，並嚴格執行「報完價立刻閉嘴」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先後手決策準則（依資訊對稱度二選一）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資訊嚴重不對稱、不諳行情時【後出價】（你預想1,000元，對方可能先報200元）。② 比對手更熟悉市場行情時【大膽先報價】，先發制人壓低對方心理預期。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高報價（上浮5%～100%）vs 合理報價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高報價兼具錨定效應與預留還價空間（如五星飯店會務留空間讓客戶老總砍價有面子）；但對手極懂行、長期夥伴、行情看跌、急需走量時禁用，應改採透明合理報價。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通用黃金時序：先講理由 ＋ 報完價立刻閉嘴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報價前充分陳述 1-2-3-4 條客觀支撐理由；② 清晰報出數字；③ 【報完價立刻閉嘴沉默】觀察對方微表情！報價後多解釋一句，都會被視為心虛信號。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報價決策節點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新手常見誤區（入門避坑）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專家標準法則（核心機制）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進階商務實戰行動指標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先後手選擇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不了解底細時貿然先開價，導致錨定失準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不熟行情讓對方先報；熟稔行情則主動先報錨定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非標採購請對方先報明細；標準品主動拋目標錨點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高報價邊界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對所有客戶一律虛報高價，嚇跑熟行夥伴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對手極懂行、長期合作、行情看跌、急走量禁用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一次性專案預留議價緩衝；戰略長約採透明合理價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報價話術時序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報價後見對方皺眉便慌忙解釋、主動鬆口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嚴守「先講理由 → 報出數字 → 立刻閉嘴觀察」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報出關鍵價格後強制默數 5 秒不發一言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07 / 16 ｜ LEVEL 2 進階實戰 ｜ 第 2 講（下）離桌威脅判讀與遞減讓步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2 講（下）掌控還價拉鋸戰：從「具體使用場景挑刺」識破假離桌威脅，並做幅度遞減的「不情願讓步者」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還價攻防：攤開成本事實 vs 要求拆解依據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熟稔行情時直接攤開供應鏈成本數據；不熟行情且對方僅拋籠統高價時，切勿急於還價，應要求對方詳細解釋報價的計算邏輯與構成明細。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離桌威脅判讀：挑剔具體使用場景＝高度想買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若對手挑剔細節具備【具體使用場景且非硬傷】（如「房間擺雙人床略擠」「座椅靠背略硬」），代表心理已代入成交後畫面，成交意願極高！真想放棄者常一言不發離場。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讓步三大紀律：不一步到位、不情願、幅度遞減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接近成交區間時：①絕不一步到位；②扮演不情願的讓步者；③讓步幅度嚴格遞減（如 50→25→5）。若先讓 50 再讓 80，必誘發對手無底線逼迫。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拉鋸交鋒情境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新手常見誤區（入門避坑）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專家標準判讀與機制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進階商務實戰應對動作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籠統高價無明細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憑直覺直接攔腰砍半，陷入漫天喊價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將舉證責任推回報價方，檢視成本結構合理性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要求對方提供分項計價明細表(BOM)逐項核對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場景挑刺＋威脅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聽聞「不降價就不買」即驚慌大幅退讓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識別「具體使用場景＋非硬傷挑剔」＝想成交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穩守底線，針對使用細節提供配套而不輕易降價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價格空間見底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讓步先小後大，導致底線被徹底擊穿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以「不情願＋幅度遞減」傳遞價格見底信號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會前預先設定 3 次遞減讓步階梯(如 3%→1.5%→0.5%)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08 / 16 ｜ LEVEL 2 進階實戰 ｜ 第 3 講（上）條款三級分類與假設提問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3 講（上）「條款列得多」等同價格開得高：將可談條件分為三級目標，並以非正式會議與假設性提問刺探真實優先序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窮盡盤點條款：「條款列得多＝開高價」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洽談商鋪租賃可將租金、押金、租期、免租期、物業費、轉租權等列為 20 項清單（投融資可達上千條）。條款列得越細，手上的讓步交換緩衝池就越大。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三級目標分類法：主要目標、次要目標、底線條件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主要目標（必保核心，如月租3000內＋付三押一）；② 次要目標（交換籌碼，如免租期7天讓至3天）；③ 底線條件（不可交易紅線，如禁親友來訪）。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中層吹風會 ＋ 兩類提問刺探真實優先序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高層談判前先派中層開非正式會議（吹風會）探底。會中運用：① 需求確認排序題（請候選人對薪資/發展/職位/地點排序）；② 二選一假設題（低薪配期權 vs 高薪無期權）。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條件管理工具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核心操作定義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經典商業與招募實例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進階商務合約落地指標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三級條款清單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窮盡列出合約所有可談條件，標註主要/次要/底線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商鋪租賃列 20 項清單；新創招募盤點期權與職位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將標準商務合約拆解為 15～20 項條款完成三級標註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需求確認排序題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請對方針對多項條件進行優先順序排列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請候選人對「薪資、發展、職位、地點」排序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請客戶或供應商對「總價、交期、帳期、保固」排序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假設性二選一題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提供兩組具取捨關係之方案組合測試真實偏好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「低薪資＋高期權」與「高薪資＋無期權」二選一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預備 2 道假設題(例：總價不變延尾款 vs 降2%提預付)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09 / 16 ｜ LEVEL 2 進階實戰 ｜ 第 3 講（下）最佳可替代方案與條件交換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3 講（下）以己方低成本條件換取對方高價值讓步：尋找優於談崩的最佳可替代方案，並嚴守「條件換條件」原則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顧慮替換法：深挖苛刻條件背後的「名貴木桌」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房東堅持一次付清一年租金，深挖發現是怕損壞屋內收藏的【名貴木桌】→ 替代方案：請房東搬走木桌，或維持季付但適度加押金。隱藏替代方案為談崩退路(BATNA)。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最佳可替代方案（不等價互利置換）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以我方【低成本、高收益】之 A 條件，置換對方【低成本、高收益】之 B 條件。即使已找到可接受方案，仍可持續探索更優的互利組合。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條件讓步三原則（含「換新空調」防禦緩衝帶）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讓步聚焦於次要目標（低成本小事可主動讓步以退為進）；② 扮演不情願讓步者（需請示主管/合夥人）；③ 雙方同步讓步＝條件換條件（答應押三但要求換新空調作緩衝帶）。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條件交換戰術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核心邏輯與防禦機制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經典案例與標準話術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進階商務合約落地應用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顧慮替換法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針對苛刻條款背後的風險擔憂提供低成本保障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房東怕損壞名貴木桌要年付 → 請其搬走木桌維持季付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客戶要求高履約保證金 → 改提供每週進度稽核與里程碑驗收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以退為進讓步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在己方低成本次要條款主動示好，換核心利益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主動配合非核心行政條款，鎖定核心租金與帳期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主動提供免費操作培訓，換取標準付款帳期不延長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緩衝地帶反制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被迫讓步時同步捆綁新條件，阻止對方加碼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「付三押三可以，但請幫我們更換一台新空調」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「單價再降 2% 可以，但預付款比例須提高至 30%」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10 / 16 ｜ LEVEL 3 高階破局 ｜ 第 4 講（上）價值鏈三角形與增量破局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4 講（上）僵局是價值談判的最佳入口：跳出雙邊零和底邊，將第三方（顧客）納入價值鏈三角形以擴大總利潤面積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商業本質洞察：追求總「利潤額」而非帳面「利潤率」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電商採購與手機廠為每台 10 元價差僵持一上午。湯君健點出：商業經營要的是總【利潤額】而非好看的【利潤率】；洞察我方平台女性顧客居多，應改談女性專屬手機！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共創女性專機專案：銷量與總利潤額雙創紀錄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手機廠導入線下女性專屬手機；電商平台投入流量支持、策劃女性購物節、將冰冷參數頁改為感性視覺頁面，創造遠超預期的雙贏成果。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價值鏈三角形模型 ＆ 高階談薪破局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「供應商—採購方—終端顧客」構成三角形，面積即總利潤空間。底邊零和博弈面積不變，唯有在【顧客頂點】做文章才能把餅做大。求職談薪卡關亦可改談新業務價值換取權限。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比較維度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傳統零和博弈（底邊爭奪）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價值鏈三角形共創（頂點擴張）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進階商務實戰行動指標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財務核心指標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執著於單價折扣與帳面好看的「毛利率」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聚焦雙方共享之絕對「總利潤額」與市場增量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單價觸底時，立即轉向試算總銷量提升之絕對金額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視野與參與方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僅限談判桌上的買賣雙方（甲方 vs 乙方）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納入價值鏈第三方（終端顧客／下游客戶）需求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分析共同服務之終端客群特徵，聯合開發高溢價方案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資源投入方式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零和索取，要求對方單方面讓利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雙方共同投入互補資源（產品線 × 流量與行銷）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挑選一項卡關合作案，繪製含第三方的價值鏈三角形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11 / 16 ｜ LEVEL 3 高階破局 ｜ 第 4 講（下）順風車提案與決策三角色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4 講（下）把己方方案「塞進對方的主張裡」：以量化數據、A/B/C 三選項與決策鏈三角色精準攻克組織決策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順風車法則：將己方方案「塞進對方的主張裡」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先詢問對方年度戰略與未來規劃；當對方表示今年重點為「新品、新店、新渠道」時，立即將我方提案包裝為實踐其戰略的最佳載體，轉化為「共同方案」。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說服關鍵 ① 嚴謹數據量化 ＋ ② A/B/C 三套選項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所有效益推論須有嚴謹數據支撐。② 拆解為方案 A（上策：投入大見效快）、方案 B（穩健）、方案 C（下策：投入小風險低好掉頭），主動剖析利弊引導做選擇題。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說服關鍵 ③ 精準擊破組織決策鏈三大角色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拍板人（總經理）：關注大方向、品牌與總利潤，忌講細節；② 評估人（CFO/業務骨幹）：關注數據準確性與邏輯；③ 執行人（對接窗口）：關注流程是否簡單易行。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組織決策角色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核心決策關注點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常見溝通失敗原因（入門避坑）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進階定制化說帖與行動指標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拍板人 (總經理)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企業戰略方向、品牌影響力、總利潤額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陷入技術與執行細節，未對齊其年度戰略主軸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以一頁式摘要呈現戰略順風車契合度與總增量利潤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評估人 (CFO/骨幹)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財務模型準確性、投資回報率、風險邊界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僅有口頭願景而無嚴謹數據，被評估人一票否決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提供 A/B/C 三方案財務試算表（含成本、回收期與風險）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執行人 (對接窗口)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操作簡單易行、工作量不暴增、流程合規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輕視一線窗口職級，因「執行太繁瑣」被消極擱置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為執行窗口準備標準化執行清單與 SOP，幫其減負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12 / 16 ｜ LEVEL 1–2 入門至進階 ｜ 第 5 講（上）離桌底氣與情緒控場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5 講（上）雙贏是結果而非目的：建立「沒有非成交不可」的離桌底氣，堅持對事不對人並在失控前主動喊停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支柱一：沒有非成交不可的談判（離桌底氣）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一旦內心認定「必須出結果」即喪失選擇權。對手會敏銳評估你離桌的可能性——你的替代方案越少，對手的報價與條件就越苛刻。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支柱二：雙贏是結果而非目的（破除兩大迷思）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過於融洽的談判往往喪失創造新價值的動力；② 企圖以短期無端讓步換取長期合作關係，最終換來的必是【不平等的依附關係】。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支柱三＆四：對事不對人 ＋ 情緒斷路器「主動喊停」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同理心過強易被帶節奏，須堅守「對事不對人」。察覺自己焦慮快崩、或發現對手情緒失控時，立即主動提議中場休息喊停，絕不打負氣牌。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心理建設維度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新手常見誤區（入門避坑）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專家心態標準（核心機制）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進階商務實戰檢核指標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成交執念管理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背負業績壓力認為「今天非簽不可」，毫無退路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沒有非成交不可的談判；隨時具備離桌底氣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會前書面寫下「談崩具體備案」與「評估對手離桌率」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關係與利益權衡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追求表面和氣，或單方讓利幻想未來回報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雙贏是結果非目的；守住原則方能贏得平等尊重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拒絕無條件「交朋友價」，當期折讓須綁定當期回報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情緒與節奏控場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因對方強硬動怒打負氣牌，或過度共情被帶偏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堅守對事不對人；情緒臨界時啟動主動喊停機制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於正式議程預留 15 分鐘休會時段作為團隊覆盤安全閥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13 / 16 ｜ LEVEL 2 進階實戰 ｜ 第 5 講（下）五大心理戰積極防禦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5 講（下）建立談判桌上的「積極防禦」：精準識破虛張聲勢、製造負罪感、面子換裡子、底線時間與紅白臉五大心理戰術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① 虛張聲勢 ＆ ② 製造負罪感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虛張聲勢（冷落晾人1小時、高管排場）：秉持家樂福信條「大名片背後常是普通銷售」，衣著更嚴謹、專注條款本身。② 製造負罪感（放大瑕疵）：熟稔產品區分真問題（正面解決拉回）與偽問題（微笑帶過）。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③ 面子換裡子（軟刀子）＆ ④ 底線時間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③ 面子換裡子（貼心給台階誘使讓利）：面子致謝，裡子死守不可交易紅線；會後無論輸贏主動讚揚對手。④ 底線時間（三天最後期限）：反問「為何設定三天？是誰給您時間壓力的？」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⑤ 團隊談判最常用：「紅白臉」雙簧拆解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白臉強硬施壓降預期，紅臉溫和打圓場勸退讓。防禦：看穿雙人演戲，直接微笑點破「兩位別演紅白臉了，請問我究竟與哪位全權代表主談？」並確保雙方人數對等。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846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心理戰術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對手典型施壓表現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積極防禦核心機制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進階標準反制話術與行動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虛張聲勢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會議室外晾人 1 小時；高管列席擺派頭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秉持家樂福信條，剝離頭銜光環聚焦條件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穿著更嚴謹專業提升氣場，直接切入實質條款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製造負罪感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放大微小瑕疵、質疑數據讓我方覺得理虧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深度掌握產品規格，區分真問題與偽問題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真問題提解法拉回主題；偽問題笑過；必要時反指痛點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面子換裡子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給口頭高帽與台階，誘導讓出核心利益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面子禮貌致謝，裡子堅守底線條件不可交易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「感謝體諒，但此條款確屬公司紅線無法交易」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4. 期限 / 5. 紅白臉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壓3天期限 / 一人拍桌施壓一人打圓場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反問壓力來源 / 點破雙簧要求指定全權代表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「為何三天？誰給您壓力？」「請指定一位全權代表主談」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14 / 16 ｜ LEVEL 2 進階實戰 ｜ 第 6 講：三柱姿態與標準拒絕公式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第 6 講 以不變應萬變的談判姿態：貫徹「態度誠懇、立場堅定、身段柔軟」，善用拒絕公式與「如果…就…」開啟雙向交換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態度要誠懇：探詢理想結果（嚴禁問底線）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語言：探詢對方看法與【理想結果】（嚴禁逼問底線，因對方不會說且暗示你無意幫他），主動說明會前準備（如已提前核對帳目）。肢體：點頭、眼神接觸、身體微前傾、雙手自然攤開。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立場要堅定：必背「標準拒絕公式」＋手腳控場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【拒絕公式】＝前半句表明不可退讓立場（關門）＋後半句引導新解決方案（指路）。例：交貨期無法調整，不如探討到貨後如何縮短驗收時間。肢體：手掌向下按壓控場，雙腳如種在地面般穩固。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身段要柔軟：模糊語言潤滑 ＋「如果…就…」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以委婉模糊語言避免絕對否定，保留迴旋空間；將「30日不付款即斷貨」改寫為「如果30日前款項到位，我們立即安排發貨」。肢體：肩頸放鬆、不撐桌、微笑平和反駁。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三柱談判姿態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新手常見誤區（語言與肢體失誤）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專家標準語言公式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專業肢體語言配置標準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1. 態度要誠懇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開口逼問「底線多少？」；後仰靠背、抱胸握拳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「請問您期望的理想結果為何？」「會前已核對好帳目」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專注點頭傾聽、眼神接觸、身體微前傾、雙手攤開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2. 立場要堅定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不敢說不，或生硬拒絕導致冷場；雙腳晃動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拒絕公式：「單價確無空間(關門)，但可談免租期(指路)」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手掌向下平穩按壓控場、雙腳如種在地面般穩貼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3. 身段要柔軟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絕對否定詞把話說死、最後通牒；聳肩撐桌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委婉表述＋「如果貴方在A配合，我方可在B讓步」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肩頸放鬆、重心置於前臂、反駁時面帶微笑語氣平和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15 / 16 ｜ LEVEL 3 高階破局 ｜ 跨模組整合：八條因果鏈 × 顧問式銷售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跨模組深度整合：串聯全課八條邏輯因果鏈，並將「三層談判模型」與「MEDDIC 顧問式銷售」無縫對接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全課八條橫向因果鏈（前段準備支撐後段控場）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①② 機會成本備案與談崩退路 ➔ 支撐第5講離桌底氣；③ 分橘子挖真實需求 ➔ 驅動假設提問與價值鏈擴張；④⑤⑥ 價格⇄條件⇄價值動態循環；⑦⑧ 讓步紀律與對事不對人 ➔ 外顯為三柱姿態。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B2B 雙引擎：前段 MEDDIC 銷售 × 後段三層談判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M (Metrics 量化) 對接第4講「用數據算清總利潤額」；E (經濟決策者) 與 C (擁護者) 對接「拍板人/評估人/執行人」；D (決策標準) 對接「把方案塞進對方主張」。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全生命週期延伸：簽約後履約與變更管理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桌上達成協議後，須同步建立合約履約里程碑與變更索賠護欄，並以平等互惠原則維護長期商業合作。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846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邏輯因果鏈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前段基礎工具（因）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後段高階表現（果）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B2B 商務管理實戰意涵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因果鏈 1 &amp;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第2講：底線＝機會成本 / 第3講：談崩退路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➔ 第5講：沒有非成交不可的離桌底氣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唯有會前開發出實質備選方案，桌上才能無懼破局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因果鏈 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第1講：表面訴求 ≠ 真實需求（分橘子）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➔ 第3講：假設提問 ➔ 第4講：價值鏈三角形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對真實動機挖掘越深，互利交換與增量空間越大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因果鏈 4–6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第2講：單價卡死 ➔ 第3講：多維條款交換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➔ 第4講：把餅做大 ➔ 回歸價格分配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打破單一維度死結，跨層創造增量後再行合理分配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因果鏈 7 &amp; 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第2–3講：遞減與條件讓步 / 第5講：對事不對人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➔ 第6講：「如果…就…」＋ 三柱姿態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內在讓步紀律與心理防線，透過精準話術與肢體展現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Microsoft JhengHei"/>
              </a:defRPr>
            </a:pPr>
            <a:r>
              <a:t>SLIDE 16 / 16 ｜ LEVEL 1–3 全員實戰 ｜ 全課總結：談判前一頁紙作戰畫布</a:t>
            </a:r>
          </a:p>
          <a:p>
            <a:pPr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全課總結與落地工具：將「替代方案、條款三級分類、底線與拒絕公式」收斂為「談判前一頁紙」，實現利益與尊重兼得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五格「談判前一頁紙」標準作戰畫布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① 目標價(附3理由)、底線價(機會成本)與談崩退路；② 15~20項可談條款分主要/次要/底線；③ 對方深層需求與2道假設題；④ 第三方價值鏈與A/B/C三方案(對應三角色)；⑤ 預寫2句拒絕公式。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1C2C"/>
                </a:solidFill>
                <a:latin typeface="Microsoft JhengHei"/>
              </a:defRPr>
            </a:pPr>
            <a:r>
              <a:t>▪ 從入門到進階的黃金行動槓桿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在下一場重要商務協商（採購議價、大客戶簽約、跨部門資源爭取或職場談薪）前，花 15 分鐘填妥五格畫布，將方法論轉化為標準動作。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44752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554480"/>
            <a:ext cx="333756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▪ 全課最高境界：利益與尊重兼得</a:t>
            </a:r>
          </a:p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貫徹「態度要誠懇，立場要堅定，身段要柔軟」，成為一名原則明確、重信守諾、專注共創解決方案的「可靠」談判專家。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858768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846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優先級別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適用能力階段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課後立即落地行動清單（Actionable Checklist）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預期實戰效益與檢核標準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P0 必做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L1–L3 全員必備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為下一筆關鍵協商填寫「談判前一頁紙」：寫出底線價(機會成本)、目標價與 3 條理由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進場前建立清晰價格尺子，杜絕心虛解釋與盲目讓步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P0 必做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L2 進階實戰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將合約可談條款列為 15～20 項清單並標註主要/次要/底線，預備 2 道二選一假設題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建立充足次要條款緩衝池，確保每次讓步皆能條件交換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P0 必做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L1–L2 入門至進階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寫下「談崩替代方案」；針對最常被砍的 2 項條款依「拒絕公式(關門＋指路)」預寫話術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消除非成交不可恐懼；守住底線同時自然導向替代方案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P1–P2 進階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L2–L3 高階破局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比對 5 家報價拆解成本結構；針對卡關專案繪製第三方價值鏈並設計 A/B/C 三方案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51C2C"/>
                          </a:solidFill>
                          <a:latin typeface="Microsoft JhengHei"/>
                        </a:defRPr>
                      </a:pPr>
                      <a:r>
                        <a:t>以客觀數據破解虛高溢價，以增量共創攻克組織決策鏈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商務談判協商知識庫 ｜ COURSE #001 湯君健《有效提升你的談判能力》 ｜ McKinsey Executive Briefing Standard • Slide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