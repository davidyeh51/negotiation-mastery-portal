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本頁結論：凡是「我要」但不易從別人那裡要到的事，都需要透過「以己為先、利用理性與非理性、聯手找方案」的談判來解決。</a:t>
            </a:r>
          </a:p>
          <a:p>
            <a:r>
              <a:t>② 補充說明：講者湯君健曾任寶潔渠道總監8年（乙方，年合同約10億，原文未載幣別）及大型電商企業大學校長（甲方）。不會談判的人要嘛吵架，要嘛當軟柿子妥協；高手的核心特質則是「可靠」。</a:t>
            </a:r>
          </a:p>
          <a:p>
            <a:r>
              <a:t>③ 下一頁轉場：建立基本定義後，下一頁我們用一張架構圖看清整門課「一核心、三層循環、兩道防線」的全局邏輯。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本頁結論：全課濃縮為「一核心、三層循環、兩道防線」，價格、條件、價值三層是循環而非單向。</a:t>
            </a:r>
          </a:p>
          <a:p>
            <a:r>
              <a:t>② 補充說明：當價格卡死時主動切換到條件層，條件到頭時升級到價值層把餅做大，做大後仍要回到價格分配（#002 明載）。</a:t>
            </a:r>
          </a:p>
          <a:p>
            <a:r>
              <a:t>③ 下一頁轉場：掌握全課骨架後，我們進入第1講，從「兩個小孩分橘子」看懂表面訴求與真實需求的差異。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本頁結論：談判三要點是「以自己目的為先、利用理性與非理性、聯手找方案」，核心是看穿表面立場背後的橘子皮真實需求。</a:t>
            </a:r>
          </a:p>
          <a:p>
            <a:r>
              <a:t>② 補充說明：連「靠牆而非靠門的座位能給對方強烈壓迫感」都列入講者的談判前清單，證明非理性氣場管理極為關鍵。</a:t>
            </a:r>
          </a:p>
          <a:p>
            <a:r>
              <a:t>③ 下一頁轉場：理解三要點後，下一頁我們看如何將任何複雜談判拆解為三種基本模型並靈活切換。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本頁結論：再複雜的談判都能拆解為價格、條件、價值三種模型，卡在價格時應主動切換至條件或價值層。</a:t>
            </a:r>
          </a:p>
          <a:p>
            <a:r>
              <a:t>② 補充說明：用談判解決問題，不靠命令、祈求或情感綁架。文末附錄美國國務院外交官13項標準亦印證談判需要定量分析、冷靜與合作等綜合能力。</a:t>
            </a:r>
          </a:p>
          <a:p>
            <a:r>
              <a:t>③ 下一頁轉場：接下來第2講，我們深入拆解第一層模型——最考驗基本功的「價格類談判」。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本頁結論：價格談判進場前須定出底線（機會成本）與目標價（市場尺子），並拆解供應鏈成本做到真正懂行。</a:t>
            </a:r>
          </a:p>
          <a:p>
            <a:r>
              <a:t>② 補充說明：底線用機會成本定義，意味著「多備一家報價」本身就是談判籌碼。紅酒採購案例證明，把成本事實擺在桌上，供應商就不敢再拿虛高價忽悠。</a:t>
            </a:r>
          </a:p>
          <a:p>
            <a:r>
              <a:t>③ 下一頁轉場：準備充分後走上談判桌，該由誰先報價？報完價後最重要的一個動作是什麼？請看下一頁。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本頁結論：依資訊對稱度決定誰先報價，靈活運用高報價或合理報價，並嚴格執行「報價前講理由、報完價立刻閉嘴」。</a:t>
            </a:r>
          </a:p>
          <a:p>
            <a:r>
              <a:t>② 補充說明：五星級酒店會議室若底線5萬卻直接給採購經理報5萬實價，等對方採購總監親自打電話來要面子時就會陷入絕境。報完價立刻閉嘴則能避免暴露心虛。</a:t>
            </a:r>
          </a:p>
          <a:p>
            <a:r>
              <a:t>③ 下一頁轉場：報完價進入來回還價階段，當對方威脅「不降價就不談了」，如何判讀真偽並正確讓步？請看下一頁。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本頁結論：從「具體使用場景的非硬傷挑刺」識破假離桌威脅，並在收尾時做幅度遞減的不情願讓步者。</a:t>
            </a:r>
          </a:p>
          <a:p>
            <a:r>
              <a:t>② 補充說明：真正想離開談判桌的人根本懶得費口舌挑刺，常一言不發走人；會嫌房間擺床擠的人心裡已經想買了。讓步若先讓50再讓80，會讓對方得寸進尺。</a:t>
            </a:r>
          </a:p>
          <a:p>
            <a:r>
              <a:t>③ 下一頁轉場：當價格空間用盡仍無法成交時，就該啟動第3講「條件類談判」，用多條款交換破局！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本頁結論：把所有可談條款列成清單並分為主要、次要、底線三級，再透過中層吹風會、需求排序題與假設性問題摸清對方優先序。</a:t>
            </a:r>
          </a:p>
          <a:p>
            <a:r>
              <a:t>② 補充說明：條款列得多就好比價格開得高，次要目標全是你保護主要目標的彈藥。問假設性二選一問題比直接問更能試出真話。</a:t>
            </a:r>
          </a:p>
          <a:p>
            <a:r>
              <a:t>③ 下一頁轉場：摸清雙方條件優先序後，如何找到「最佳可替代方案」並落實條件讓步三原則？請看下一頁。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本頁結論：挖掘對方苛刻條件背後的真實顧慮以提出最佳可替代方案，並嚴守「讓次要、不情願、條件換條件」三原則。</a:t>
            </a:r>
          </a:p>
          <a:p>
            <a:r>
              <a:t>② 補充說明：房東逼你付三押三時，提出「換新空調」作為緩衝地帶，對方要嘛答應換空調，要嘛撤回押三要求，不會繼續得寸進尺。</a:t>
            </a:r>
          </a:p>
          <a:p>
            <a:r>
              <a:t>③ 下一頁轉場：如果連條件都交換到盡頭、預算與底價仍無法匹配怎麼辦？我們進入第4講「價值類談判」！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本頁結論：看似談不下去的僵局正是價值談判的入口——透過「閱讀價值鏈」把顧客等第三方納入三角形，才能把總利潤面積做大。</a:t>
            </a:r>
          </a:p>
          <a:p>
            <a:r>
              <a:t>② 補充說明：不管供應商和採購所在的三角形底邊怎麼切分，總面積是不變的；唯有在顧客端做文章（如女性手機專案），餅才會變大。</a:t>
            </a:r>
          </a:p>
          <a:p>
            <a:r>
              <a:t>③ 下一頁轉場：但價值談判需要雙方共同投入才能實現，如何把對方拉到你的軌道並說服他背後的整個組織？請看下一頁。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本頁結論：先提問把方案塞進對方戰略主張裡，再以「數字算清利益、提供A/B/C三選項、精準對接拍板/評估/執行人」完成說服。</a:t>
            </a:r>
          </a:p>
          <a:p>
            <a:r>
              <a:t>② 補充說明：給出上中下三策（A投入大見效快、C投入小風險低好掉頭）能把對方的決策心理從「要不要合作」轉為「選哪一個方案」。</a:t>
            </a:r>
          </a:p>
          <a:p>
            <a:r>
              <a:t>③ 下一頁轉場：掌握了價格、條件、價值三層打法後，我們進入第5講，修煉立於不敗之地的談判心態與心理戰防禦！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本頁結論：守住「沒有非成交不可」的離桌底氣，認清「雙贏是結果不是目的」，並以「對事不對人」與「主動喊停」管理情緒。</a:t>
            </a:r>
          </a:p>
          <a:p>
            <a:r>
              <a:t>② 補充說明：沒有人規定談判期間不許休息，像打撲克下棋一樣，心態快崩時主動喊停才不會打出負氣牌。</a:t>
            </a:r>
          </a:p>
          <a:p>
            <a:r>
              <a:t>③ 下一頁轉場：有了強大心態，當對手使出五大常見心理戰伎倆時，該如何識破並積極防禦？請看下一頁。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本頁結論：學習心理戰是為了「積極防禦」——看穿虛張聲勢、製造負罪感、面子換裡子、底線時間與紅白臉五大伎倆並拉回軌道。</a:t>
            </a:r>
          </a:p>
          <a:p>
            <a:r>
              <a:t>② 補充說明：家樂福信條與點破紅白臉話術非常實用，同時請記住團隊談判時雙方出席人數最好對等，氣勢才不會輸。</a:t>
            </a:r>
          </a:p>
          <a:p>
            <a:r>
              <a:t>③ 下一頁轉場：有了內在心態防線，下一頁我們進入第6講，學習外在「語言與肢體語言管理」的三句話準則與拒絕公式。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本頁結論：以老領導三句話「態度要誠懇、立場要堅定、身段要柔軟」維持中立姿態，確保語言與肢體高度一致。</a:t>
            </a:r>
          </a:p>
          <a:p>
            <a:r>
              <a:t>② 補充說明：拒絕公式把「說不」與「繼續談」綁在同一句話裡，立刻解決不好意思拒絕與拒絕後冷場兩大難題。</a:t>
            </a:r>
          </a:p>
          <a:p>
            <a:r>
              <a:t>③ 下一頁轉場：六講內容全部學完後，下一頁我們將全課八條橫向因果鏈與大衛雲 MEDDIC 顧問銷售進行跨系統整合。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本頁結論：前段工具是後段心態與話術的地基，將湯君健三層談判與 MEDDIC 結合可形成 B2B 完整商務閉環。</a:t>
            </a:r>
          </a:p>
          <a:p>
            <a:r>
              <a:t>② 補充說明：有第2講的機會成本備案，才有第5講的離桌底氣；有第3講的條件分級，才有第6講拒絕公式後半句的指路空間。</a:t>
            </a:r>
          </a:p>
          <a:p>
            <a:r>
              <a:t>③ 下一頁轉場：最後一頁，我們把全課精華收斂為一張進場前必填的「談判前一頁紙」與13項待辦行動表！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本頁結論：將全課工具收斂為一頁「談判前一頁紙」，在下一次採購或業主合約談判前花15分鐘填妥即可上場。</a:t>
            </a:r>
          </a:p>
          <a:p>
            <a:r>
              <a:t>② 補充說明：好的談判者是利益和尊重兼得的。透過這套系統，我們既能守住「我要」的核心利益，又能與合作夥伴聯手創造更大價值。</a:t>
            </a:r>
          </a:p>
          <a:p>
            <a:r>
              <a:t>③ 結語：感謝研習湯君健《有效提升你的談判能力》16頁麥肯錫精華簡報！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01 / 16 ｜ 發刊詞：核心定義與高手特質 (#001)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談判是幫你解決「我要」的問題：利用決策中的理性與非理性因素，以己方目的為先並聯手共創方案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凡是「我要」但難要到的皆屬談判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買車想便宜1萬、賣房想多10萬、加薪20%、讓孩子放下手機睡覺。不會談判有兩種失敗模式：①衝突升級吵架；②怕衝突當軟柿子無端妥協。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湯君健談判定義（三組關鍵詞）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利用人決策中的【理性與非理性因素】；② 堅持【以自己的目的為先】（多數無欲無求是不知如何主張）；③ 和對方【聯手找到解決方案】。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高手特質是「可靠」× 甲乙方雙棲經驗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高手非伶牙俐齒，而是原則強、守信、找方案不抱怨、換位思考。講者具寶潔8年渠道總監（乙方年簽10億）與大型電商企業大學校長（甲方）經驗。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評估維度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不會談判的常見誤區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湯君健實戰談判定義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實戰落地行動 (#001)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本質與目標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唇槍舌劍辯論，或怕衝突當軟柿子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以自己目的為先 × 聯手找解決方案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列出本季 3 件「我要但不易要到」事項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決策因素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只靠算計砍價，或只靠打感情牌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同時運用理性（數據）與非理性（氣場）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涵蓋客戶、供應商、內部各一項練習標的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高手形象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咄咄逼人、能言善道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「可靠」：原則性強、守信、換位思考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將信譽作為長期談判的核心資產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02 / 16 ｜ 全課邏輯骨架：一核心、三層、兩道防線 (#008)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全課邏輯骨架：以「我要」為核心，串聯價格、條件、價值三層循環模型，並由心態與姿態築起兩道防線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一核心 ＋ 三層動態循環模型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核心：以「我要」為先。三層由簡到繁：L1 價格談判（零和）→ L2 條件/交換談判（多條款）→ L3 價值談判（做大餅）→ 做大後仍回到 L1 價格分配。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內外兩道防線（共用於三層模型）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防線一（第5講內在心態）：沒有非成交不可、對事不對人、識破五種心理戰。防線二（第6講外在表達）：誠懇/堅定/柔軟、拒絕公式、「如果…就…」。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顧問識別之課程空白與術語校準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發刊詞與第6講稱「交換類談判」即第3講「條件類談判」。原課未展開談判後履約覆盤，且談判前清單僅提及未列表，已於第16頁收斂為「談判前一頁紙」。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2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作戰維度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#003 價格類談判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#004 條件類談判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#005 價值類談判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#006/#007 兩道防線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準備階段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底線(機會成本)、目標、行情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20+條款分主要/次要/底線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閱讀價值鏈、算清增量數字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備妥離桌替代方案、提前對帳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資訊刺探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決定誰先報價、要求解釋依據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中層吹風會、排序題、假設題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問對方未來生意規劃搭順風車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不問對方底線、改問理想結果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讓步與破局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識破離桌威脅、不情願遞減讓步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讓次要保主要、雙方同讓換空調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納入顧客三角形、ABC選方案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主動喊停、拒絕公式、如果…就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03 / 16 ｜ 第 1 講（上）談判三要點與分橘子啟示 (#002)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1 講（上）表面訴求不等於真實需求：堅守「以自己目的為先」，透過資訊交換與換位加工挖掘對方的「橘子皮」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分橘子故事：表面爭數量 vs 真實需求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一大一小兩個男孩分5個橘子，先訴諸公平（個子大 vs 先看到），再訴諸權力（年齡大 vs 告爸爸）。父親問出小男孩要皮做橘燈、大男孩要肉榨汁，皮肉分開圓滿解決。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要點一＆二：向前爭取 ＋ 理性非理性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以自己目的為先：明確訴求且不動搖，靠「向前爭取」而非「往後讓步」。② 利用理性與非理性：講者談判前清單包含需求、資訊、利益計算、對方性格、議程、會場及靠牆座位（給對方壓迫感）。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要點三：聯手找方案（資訊交換＋加工）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現實談判沒有第三者爸爸替我們解圍，必須靠自己不斷刺探對方需求（資訊交換），並換位思考找出背後潛台詞（資訊加工）。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談判三要點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核心內涵與反直覺洞見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分橘子故事／實戰案例對照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落地行動 (#002)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以自己目的為先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非往後讓步求合，而是向前爭取實現訴求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不因怕衝突而放棄自己應得的份額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進場前明確寫下不可動搖的核心訴求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利用理性與非理性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擺事實、利益打動、示弱、環境氣場並用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安排對手坐「靠牆而非靠門座位」傳遞壓迫感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起草個人版「重要談判前7項檢查清單」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聯手找解決方案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資訊交換（刺探）＋ 資訊加工（讀潛台詞）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表面爭5顆橘子，潛台詞是橘皮做燈 vs 橘肉榨汁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列出進行中案件對方的「橘子皮」需求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04 / 16 ｜ 第 1 講（下）三種基本模型與跨層切換 (#002)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1 講（下）再複雜的談判皆可拆解為三種基本模型：先辨識所處層次，並在卡關時主動推動談判跨層升級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三種基本模型（由簡到繁・常混合存在）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價格談判：零和博弈，餅就這麼大，你多咬一口我就少一塊。② 條件談判：含付款方式、送貨、合格率等多條款，各取所需。③ 價值談判：超越既有條件，創造新價值。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管教孩子不看電視的三層次演繹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價格層：你說看3分鐘，他討價5分鐘，最後4分鐘成交。② 條件層：現在立刻不看，週末才帶去公園玩（條件換條件）。③ 價值層：可以看，但看完要把故事講一遍。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主動切換策略 ＆ 美國外交官 13 項標準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對方死不降價時主動試探其他可交換條款；做大餅後仍須回到價格分配。附美國國務院外事人員13條標準（冷靜、文化適應、資訊分析、判斷力、定量分析等）。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基本模型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博弈特徵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原文生活與商務實例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光電 EPC 合約對應（顧問推論 #002）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價格談判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零和博弈（收益＝對方損失）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買賣討價還價；看電視 3 vs 5 分鐘→4分鐘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單純壓低每瓦模組或逆變器單價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條件談判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多條款砝碼，各取所需互換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現結/季結、自提/送貨、合格率；關電視換去公園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單價 × 付款期程 × 保固 × 工期 × 罰則交換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價值談判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共同投入創造新價值把餅做大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看完電視講故事；電商與手機廠共推女性專機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納入用電戶/金融方共創光儲綠電增值方案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05 / 16 ｜ 第 2 講（上）價格談判準備：底線、目標與真正懂行 (#003)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2 講（上）善戰者立於不敗之地：以機會成本錨定底線、以市場尺子設定目標，並拆解供應鏈成本做到「真正懂行」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明確底線（機會成本）與目標（市場尺子）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底線＝心理最低價或【機會成本】（手上已有12.5元選擇，就不能低於12.5元）。目標＝跳一跳能拿到的價格（二手車行情3.5~4萬，車況稀有可定4萬，報新車價則外行）。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零售巨頭紅酒採購：6 個月做到真正懂行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30年前紅酒剛進中國，滴酒不沾的女採購報法國紅酒班、跑產地考察、請教供應鏈各環節，6個月後看年份工藝產地即可拆解包裝、存儲、運輸成本，反推供應商成本價。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《孫子兵法》善戰者立於不敗之地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談判占大便宜很難，一時衝動吃大虧卻很容易。菜市場省10塊未必值當，但職場跳槽薪資基於過去基數增長，影響長期，務必做足調研。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準備要素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操作定義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原文案例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實戰落地行動 (#003)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底線價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心理最低價 或 手頭備選之機會成本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手上已有 12.5 元選擇，底線即鎖定 12.5 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採購議價前先備妥多份合格報價墊高機會成本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目標價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以市場價為客觀尺子，備妥高目標支撐理由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二手車行情 3.5–4 萬，稀有高配定 4 萬目標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為下一筆主要採購寫出底線價、目標價與3條理由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真正懂行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拆解供應鏈各環節成本與平均利潤反推底價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紅酒女採購 6 個月摸透產地、包裝、儲運成本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對照 5 家以上實際報價拆解材料/運輸/利潤結構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06 / 16 ｜ 第 2 講（中）報價策略：先後手決策與報完價閉嘴 (#003)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2 講（中）掌握報價主動權：依資訊對稱度決定誰先報價，靈活選用高報價或合理報價，並嚴格執行「報完價立刻閉嘴」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誰先報價兩條經驗（看資訊對稱度）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不知怎麼報、資訊嚴重不對稱時，等對方先報（被動反而是主動，你想1000說不定對方報200）。② 比對方更懂市場行情時，大膽先報以掌握主動權、降低對方期望值。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高報價（上浮5%~100%）vs 合理報價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高報價有兩好處：①錨定效應（五星酒店報超五星價）；②留還價空間（給對方採購總監打電話要面子的空間）。對方熟行情、長期合作、討厭還價、看跌、快走量則改用合理報價（拒絕還價）。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通用兩大鐵律：先列理由 ＋ 報完價閉嘴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報價前說出 1、2、3、4 多條支撐理由；② 【報完價之後不解釋，馬上沉默】觀察對方表情！事後解釋一大通只會讓對方覺得你心虛。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報價策略維度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高報價策略（上浮 5%～100%）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合理報價策略（不高于市場價）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通用黃金執行時序（嚴禁違反）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核心優勢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錨定效應 ＋ 預留給對方老總砍價的面子空間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傳遞「透明價、拒絕討價還價」的自信品牌形象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報價前：先完整陳述 1234 條客觀理由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經典案例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酒店會務底線5萬，若實報5萬則老總來電無法讓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一口價品牌，若對方糾纏可主動結束談判護牌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報價時：清晰報出數字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禁用／前提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對方熟行情/長期夥伴/行情看跌/急走量不適用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必須對自身主張與產品競爭力有足夠自信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報價後：立刻閉嘴沉默！觀察表情等對方出招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07 / 16 ｜ 第 2 講（下）還價與讓步：離桌威脅判讀與遞減讓步 (#003)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2 講（下）拆解還價拉鋸戰：從「具體使用場景挑刺」識破假離桌威脅，並做幅度遞減的「不情願讓步者」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還價攻防：擺事實理由 vs 要求對方解釋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熟行情時像紅酒採購一樣擺出成本事實；不熟行情且對方報價沒給理由時，不急著拋觀點，要求對方仔細解釋報價是怎麼來的供你判斷（以不變應萬變）。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離桌威脅真偽判讀：挑具體場景小毛病＝想買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對方挑毛病若有【具體使用場景且非硬傷】（如「這房間擺張床有點擠」「車靠背坐起來有點硬」），說明內心很想要、已帶入成交後場景，成交意願大！真想走的人常一言不發。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讓步三技巧：不一步到位、不情願、幅度遞減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快談到可接受點時適當讓步促成協議，但切記：①不要一步到位；②做不情願的讓步者；③讓步幅度逐漸縮小（絕不能第一次讓50、第二次讓80，否則對方必得寸進尺）。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還價拉鋸情境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對手表面言行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背後真實意圖判讀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湯君健標準反制與讓步動作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無理由高報價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只拋總價不給構成明細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試探我方是否外行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要求對方逐項解釋報價來源，或擺出供應鏈成本數據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挑小毛病威脅離桌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「房間擺床有點擠／靠背有點硬，不降不買」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假離桌！已帶入使用場景，成交意願極高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穩住底線化解小顧慮，切勿驚慌大幅降價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臨門一腳促成交易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接近我方目標與底線區間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期待我方給最後一點甜頭拍板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做不情願的讓步者，且幅度遞減（例：50→25→5）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08 / 16 ｜ 第 3 講（上）條件類談判：條款三級分類與兩類提問 (#004)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3 講（上）「條款列得多」等同價格開得高：將可談條件分為三級目標，並以非正式會議與假設性問題刺探真實優先序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盤點所有可談條件：「條款列得多＝開高價」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講者一年找30個商鋪，把租金、押金、簽幾年、裝修電器、物業費、轉讓費、轉租、營業執照等列成20項清單（投融資可達上千條）。條款列得多等於給自己爭取更多讓步空間。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條件分三級：主要目標、次要目標、底線條件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主要目標：達成後其他在底線上即可（如月租3000內＋付三押一）。② 次要目標：可讓步換主要目標（如免租期1週讓到3天）。③ 底線條件：完全無法交易（如禁帶朋友聚會）。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非正式會議（吹風會）＋ 兩類提問挖需求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高層談判前派中層開吹風會放風聲探反應。談判中問兩類問題：① 需求確認類（請候選人排序薪資/發展/職位/地點）；② 假設性問題（低薪有期權 vs 高薪無期權二選一）。傾聽時不急著評論。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條件談判工具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核心定義與功能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原文租商鋪／創業招聘案例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EPC 合約落地行動 (#004)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三級目標分類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區分主要目標、次要目標（武器）、底線條件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主要：租≤3000付三押一；次要：免租期；底線：聚會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將 EPC 標準合約所有可談條款列清單並標註三級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需求確認類問題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請對方將多項要素排序，確認價值優先級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請面試者排序：薪資、發展、職位、行業、地點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請業主排序：總價、併網工期、設備規格、付款期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假設性問題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給出兩個具體條件組合讓對方二選一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「低工資＋高期權」vs「高工資＋無期權」選哪個？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預備 2 題假設題（例：價格不動調付款期程選哪個）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09 / 16 ｜ 第 3 講（下）最佳可替代方案與條件讓步三原則 (#004)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3 講（下）用己方低成本條件換對方高收益條件：尋找優於談崩的最佳可替代方案，並嚴守「雙方同時讓步」之條件交換原則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尋找可替代方案（挖掘名貴桌子背後的顧慮）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房東要求一次付一年租金，溝通發現是怕弄壞屋內收藏的【名貴桌子】→ 替代方案：請他把桌子搬走，或維持季付但多放押金。隱藏替代方案是談崩，找不到優於談崩的方案則離桌無遺憾。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最佳可替代方案（不等價互利交換）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用我方【成本最低、收益最高】的A條件，去換對方【成本最低、收益最高】的B條件（如分橘子皮肉分開）。即便找到可接受方案，仍可繼續爭取更好方案，不要怕提要求。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條件談判讓步三原則（含新空調緩衝地帶）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讓步重點在次要目標（高手在低成本小事主動讓步以退為進）；② 做不情願的讓步者（打電話問領導/問太太）；③ 雙方一起讓＝條件換條件（答應付三押三，但要求換新空調作緩衝地帶）。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條件讓步三原則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操作心法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原文實戰案例與話術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顧問術語校準與 EPC 應用 (#004)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讓在次要目標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犧牲次要目標保護主要目標；低成本小事主動讓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免租期由7天讓到3天，保住月租3000與付三押一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配合業主周報與現場標示，換取核心付款里程碑不變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不情願讓步者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訴諸更高權威，絕不爽快答應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「我要打電話和領導商量／等我太太決定明天告訴你」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「這條超出專案經理權限，須報請投審會核准」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雙方同時讓步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條件換條件，掛鉤新條件作為防加碼緩衝帶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「付三押三可以，但房間空調太舊了希望換一台」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註：本講最佳替代方案指互利組合；BATNA指談崩退路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10 / 16 ｜ 第 4 講（上）價值類談判：閱讀價值鏈與把餅做大 (#005)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4 講（上）僵局往往是價值談判的入口：跳出零和底邊博弈，將第三方（顧客）納入價值鏈三角形以做大利潤總面積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國產手機採購破局：要利潤額而非好看利潤率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電商採購與手機廠為每台10元價差（要求與京東同進價）僵持一上午。湯君健點醒：做生意要的是總【利潤額】而非利潤率；我方網站女性顧客居多（京東男性多），應改談女性手機！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共創女性手機專項：銷量與利潤雙創紀錄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手機廠拿出僅線下銷售的女性手機；電商提供空前流量支持、策劃女性購物節、把冰冷參數頁改為生動感性展示頁，讓雙方都拿到遠超預期的成果。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閱讀價值鏈三角形模型 ＆ 求職談薪應用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「供應商—採購—顧客」構成三角形，面積＝利潤空間。底邊怎麼分面積不變，唯有在【顧客頂點】做文章（新品、高毛利品、減缺貨損失）才能把餅做大。求職30萬vs25萬亦可改談新價值換職責權限。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比較維度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零和價格博弈（三角形底邊爭奪）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價值類談判（三角形顧客頂點擴張）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實戰落地行動 (#005)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核心目標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死磕每台 10 元價差、追求帳面利潤率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共同做大總【利潤額】（三角形總面積）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挑一個卡在價格的業主或合作案畫出完整價值鏈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視野格局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僅看「供應商—採購」二元對立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閱讀價值鏈，將第三方【顧客】納入頂點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將終端用電戶、台電電網、綠色金融機構納入價值鏈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資源投入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單方割肉讓利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雙方共同投入（線下女性機＋流量購物節改網頁）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列出 1 個可把餅做大的價值創造點並粗算增量數字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11 / 16 ｜ 第 4 講（下）控制關注點與說服決策鏈三角色 (#005)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4 講（下）把你的方案塞進對方的主張裡：以「數字說話、ABC三選項、精準對應拍板／評估／執行人」攻克複雜組織決策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控制關注點：把你的方案塞進對方的主張裡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即便方案是你提的，也要讓對方覺得是共同方案。先多問問題：「關於未來生意你怎麼規劃？」一旦對方說今年戰略是新品新店新渠道，立刻把你的新品塞進他的主張裡搭順風車。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說服要點 ① 數字說話 ＋ ② 給出 A/B/C 選擇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所有推理假設須有嚴謹數字支撐，把利益算出來。② 只給1個方案對方只能選同意或不同意；拆成方案A（上策：投入大見效快）、B、C（下策：投入小見效慢風險低好掉頭）主動剖析利弊。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說服要點 ③ 有的放矢找對人（組織三角色）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價值談判須說服整個組織：① 拍板人（總經理）：看大方向、品牌、總利潤，不講細節；② 評估人（CFO/業務骨幹）：看數據與例子準確性；③ 執行人（對接者）：看是否簡單易行。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組織決策鏈角色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典型職位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核心關注焦點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說服策略與方案 A/B/C 配置 (#005)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拍板人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企業負責人、總經理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企業大方向、社會影響力、品牌知名度、總利潤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強調宏觀綜合價值與戰略順風車，不糾纏細節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評估人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CFO、財務總監、業務骨幹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數據邏輯、案例真實性、投入產出比準確度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用嚴謹數字說話，主動剖析 A/B/C 三方案利弊風險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執行人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具體業務對接窗口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方案是否足夠【簡單易行】、會不會增加負擔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提供低風險好掉頭的選項與標準化易執行流程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12 / 16 ｜ 第 5 講（上）談判心態：離桌底氣與對事不對人 (#006)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5 講（上）雙贏是結果而非目的：建立「沒有非成交不可」的離桌底氣，堅持對事不對人並在情緒失控前主動喊停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心態第一句：沒有非成交不可的談判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覺得必須出結果等於沒有別的選擇，一開始就輸了！談判必須有離開桌子的底氣。高手談判前都會評估對方離桌可能性——對方的替代方案越少，給出的報價就越苛刻。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雙贏是結果，不是目的（破除兩大錯覺）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過於融洽、一團和氣的談判，往往會失去價值創造的機會；② 想用短期利益讓步換取長期合作關係，往往換來的不是好關係，而是【不平等的關係】。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對事不對人 ＋ 情緒失控前雙向「主動喊停」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同理心太強易被對方帶節奏，須把握「對事不對人」（分歧只是暫時無法滿足訴求）。自己心態快崩時主動喊停休息，不打負氣牌；觀察到對方情緒失控時也主動喊停幫他整理情緒。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心態維度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常見談判心理誤區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湯君健科學心態原則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實戰落地行動 (#006)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成交執念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覺得這單非簽不可，毫無退路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沒有非成交不可的談判（備妥替代方案）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進場前寫下「若談崩我的替代方案」與「對方離桌可能性」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雙贏迷思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追求相談甚歡，或短期讓利換長期關係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雙贏是結果非目的；短期妥協只會換來不平等關係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任何讓步必須綁定當期條件交換，拒絕無端讓利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情緒管理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被對方帶節奏，或心態崩潰打負氣牌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對事不對人；自己快崩或對方失控時主動喊停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在談判議程中預設中場休息機制清理思路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13 / 16 ｜ 第 5 講（下）積極防禦：識破五種常見談判心理戰 (#006)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5 講（下）建立談判桌上的「積極防禦」：精準識破虛張聲勢、製造負罪感、面子換裡子、底線時間與紅白臉五大心理戰術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① 虛張聲勢 ＆ ② 製造負罪感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虛張聲勢（晾人1小時、一排副總厚資料）：記住家樂福信條「偉大商標或名片背後總有個沒啥能力的銷售員」，穿更嚴謹增強自信。② 製造負罪感（放大小缺點、挑數字）：熟自家產品分清真問題（正視拉回）與偽問題（笑過），或反挑對方瑕疵。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③ 用面子換裡子（軟刀子）＆ ④ 底線時間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③ 面子換裡子（貼心找台階「這是突破/幫你跟老闆說」）：面子道謝，裡子堅守不可交易原則；結束時無論輸贏都要讚揚對手。④ 底線時間（三天最後期限）：反問「為什麼是三天？是誰給你時間壓力的？」把問題變對方的。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⑤ 團隊談判最常用：「紅白臉」一打一拉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白臉施壓威脅不談（降低你的心理預期），紅臉打圓場勸讓步（防談判繃斷）。應對：認清是在戴面具演戲，大方點破「你們別演紅白臉啦，我到底是和誰在談？」要求指定全權代表，且雙方人數最好對等。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846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心理戰術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對手施壓手法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積極防禦核心策略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實戰反制話術／動作 (#006)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虛張聲勢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晾1小時、高管排場、大名頭壓人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家樂福信條：專注談判本身不被名頭嚇住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穿更嚴謹裝束增強自信，直接切入實質條件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製造負罪感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挑小缺點放大、挑數字邏輯讓人理虧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熟稔產品分辨真偽問題，必要時以牙還牙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真問題正視並拉回主題；偽問題笑笑帶過；反挑對方瑕疵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面子換裡子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給台階捧你「前所未有突破」誘使讓利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面子道謝、裡子死守不可交易底線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守住底線不讓步，且在談判結束時主動讚揚對手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4. 底線時間 / 5. 紅白臉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壓3天期限 / 一人扮凶一人打圓場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反問時間壓力來源 / 點破演戲要求全權代表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「為什麼是三天？誰給你壓力？」「別演紅白臉，指定全權代表」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14 / 16 ｜ 第 6 講：語言與肢體語言管理 (#007)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第 6 講 以不變應萬變的談判姿態：貫徹「態度誠懇、立場堅定、身段柔軟」，善用拒絕公式與「如果…就…」打開溝通之門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態度要誠懇：問理想結果（不問底線）＋開放肢體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語言：多問對方看法與【理想結果】（切忌問底線，因對方不會說且顯示你無意幫他），說明事前準備（提前對帳）。肢體：多點頭＋眼神交流；身體微前傾不靠椅背；雙手攤開手掌放鬆不抱胸握拳。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立場要堅定：必背「拒絕公式」＋手腳控場動作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【拒絕公式】＝前半句表明立場（關門）＋後半句提出在別處找方案（指路）。例：交貨期不能改，不如討論貨到倉後怎麼縮短收貨時間。肢體：手掌向下做按下動作（控制局勢），雙腳如種在地上貼地不晃。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身段要柔軟：模糊語言潤滑 ＋「如果…就…」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西方諺語：「外交的車輪滾滾，全靠模糊的語言潤滑。」不說「方案不可能」改說「不咋地」；不罵「產品爛」改說「質量我們有數，質檢必須的」。多用「如果30號前款到，我們就發貨」取代斷貨威脅；反駁時微笑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姿態三句話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語言管理黃金句型（原文範例）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語言禁忌（嚴禁踩雷）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身體語言一致性標準 (#007)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1. 態度要誠懇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「我想聽聽您的意見／理想結果」「已提前對好帳」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嚴禁開口問「你們底線是多少？」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多點頭、眼神交流、身體微前傾、雙手攤開放鬆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2. 立場要堅定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拒絕公式：「租金沒空間了，若馬上確認入住可談免租期」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不敢拒絕被得寸進尺，或生硬拒絕冷場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手掌向下做按下動作、結尾有力一揮、雙腳種地不晃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3. 身段要柔軟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模糊語言＋「如果你們在A讓步，我們可在B讓步」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徹底否定句把話說死、最後通牒威脅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身體放鬆不聳肩、不雙手撐桌、反駁時保持微笑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15 / 16 ｜ 跨教材整合：全課八條因果鏈 × MEDDIC 銷售 (#008)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跨教材深度整合：串聯全課八條橫向因果鏈，並將湯君健「三層談判模型」與大衛雲「MEDDIC 顧問式銷售」交叉對齊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全課八條橫向因果鏈（#008 邏輯貫通）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底線機會成本→離桌底氣；② 隱藏替代方案→離桌準備；③ 表面≠真實需求→假設題→價值鏈；④⑤⑥ 價格卡關→切條件層→創價值→回價格分配；⑦ 不情願讓步→讓步三原則→如果…就；⑧ 對事不對人→誠懇堅定柔軟。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湯君健談判 × MEDDIC 銷售（A2.6 雙引擎）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M (Metrics 量化) 對接第4講「數字說話算清利潤額」；E (Economic Buyer) 與 C (Champion) 對接第4講「拍板人/評估人/執行人」；D (決策標準) 對接「把方案塞進對方主張」。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補強課程空白：簽約後履約與長期關係護欄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原課未涵蓋談判後履約監控與覆盤；實戰中須嚴防對方簽約後利用變更單蠶食利潤，並以平等原則維護長期合作。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6057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橫向因果鏈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前段基礎認知／工具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後段高階能力／外顯表現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跨系統對接 MEDDIC 銷售 (A2.6.3.2)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底氣鏈 (#003→#006)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底線＝機會成本（多備報價）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沒有非成交不可的談判（敢離桌）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Pipeline 充足才不會在單一客戶前卑躬屈膝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需求鏈 (#002→#005)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分橘子真實需求 → 假設性問題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閱讀價值鏈三角形（納入顧客端）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I (Identify Pain 四層痛點) × M (雙層價值矩陣)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說服鏈 (#005→#007)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ABC三方案 × 拍板/評估/執行人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拒絕公式 ＋「如果…就…」條件交換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E (EB四考題) × C (Champion) × 異議處理六字訣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Microsoft JhengHei"/>
              </a:defRPr>
            </a:pPr>
            <a:r>
              <a:t>SLIDE 16 / 16 ｜ 全課總結：談判前一頁紙與 13 項待辦行動池 (#001–#008)</a:t>
            </a:r>
          </a:p>
          <a:p>
            <a:pPr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全課總結與落地行動：將「替代方案、條款三級分類、底線與目標」收斂為「談判前一頁紙」，實現利益與尊重兼得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五格「談判前一頁紙」作戰畫布（#008 首要行動）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① 底線價（機會成本）、目標價與3條理由＋談崩替代方案；② 20+可談條款分主要/次要/底線；③ 對方橘子皮顧慮與2題假設題；④ 第三方價值鏈與ABC三方案（對準拍板/評估/執行人）；⑤ 2句拒絕公式與防禦預案。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1C2C"/>
                </a:solidFill>
                <a:latin typeface="Microsoft JhengHei"/>
              </a:defRPr>
            </a:pPr>
            <a:r>
              <a:t>▪ 光電 EPC 採購與業主合約立即套用標的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採購端：模組、逆變器、施工分包（對照5家報價拆解成本反推底價）。業主端：EPC 標準合約條款分級與綠電/光儲第三方價值鏈共創。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44752"/>
            <a:ext cx="36118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554480"/>
            <a:ext cx="333756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Microsoft JhengHei"/>
              </a:defRPr>
            </a:pPr>
            <a:r>
              <a:t>▪ 全課最高境界：利益與尊重兼得</a:t>
            </a:r>
          </a:p>
          <a:p>
            <a:pPr>
              <a:defRPr sz="1100">
                <a:solidFill>
                  <a:srgbClr val="334155"/>
                </a:solidFill>
                <a:latin typeface="Microsoft JhengHei"/>
              </a:defRPr>
            </a:pPr>
            <a:r>
              <a:t>保持「態度要誠懇，立場要堅定，身段要柔軟」，做一個原則性強、守信、專注找解決方案的「可靠」談判高手。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58768"/>
          <a:ext cx="11274552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846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優先級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來源編號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David 談判協商核心待辦行動（節錄自全 13 項行動池）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驗證標準與交付物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高 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#003 / #008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為下一筆主要採購（模組/逆變器/分包）寫出底線、目標與3條理由，合成「談判前一頁紙」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產出 1 頁標準化談判前作戰表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高 P0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#004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把 EPC 標準合約可談條款全部列成清單，逐條標主要目標／次要目標／底線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完成 20+ 項合約條款三級分類表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高 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#006 / #007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寫下「談崩替代方案與對方離桌率」；用「拒絕公式」為單價、工期預寫2句話術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進場前備妥離桌底案與關門指路話術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中 P1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#003 / #005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對照5家報價拆解成本結構；挑卡關案畫第三方價值鏈並拆成 A/B/C 三方案對準三角色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51C2C"/>
                          </a:solidFill>
                          <a:latin typeface="Microsoft JhengHei"/>
                        </a:defRPr>
                      </a:pPr>
                      <a:r>
                        <a:t>完成成本反推表與 A/B/C 提案簡報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Microsoft JhengHei"/>
              </a:defRPr>
            </a:pPr>
            <a:r>
              <a:t>大衛雲 2.0 談判協商知識庫 (A2.6.4) ｜ COURSE #001 湯君健《有效提升你的談判能力》 ｜ McKinsey Executive Briefing • 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