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【採用版型與風格】cover ｜ McKinsey &amp; Company</a:t>
            </a:r>
          </a:p>
          <a:p>
            <a:r>
              <a:t>① 本頁結論：談判不是口才爭辯，也不是軟弱退讓，而是解決「我要」問題的結構化決策科學。</a:t>
            </a:r>
          </a:p>
          <a:p>
            <a:r>
              <a:t>② 補充說明：本簡報嚴格遵循前 BCG 顧問森秀明《無雜訊簡報製作法》8 大邏輯版型與麥肯錫極簡三色規範（深藍、中性灰、琥珀金強調色），協助學員從入門到進階迅速掌握談判精髓。</a:t>
            </a:r>
          </a:p>
          <a:p>
            <a:r>
              <a:t>③ 下一頁轉場：首先進入第 1 頁，用「版型 7：比較論法」拆解談判的核心定義與專家特質。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7：比較論法 (Comparison) ｜ McKinsey &amp; Company</a:t>
            </a:r>
          </a:p>
          <a:p>
            <a:r>
              <a:t>① 本頁結論：凡是「我要」但無法輕易從他人處直接取得的目標，皆屬談判；高手靠的是「可靠」而非強詞奪理。</a:t>
            </a:r>
          </a:p>
          <a:p>
            <a:r>
              <a:t>② 補充說明：入門者應先寫下不可動搖的「我要」目標；進階者則同步設計理性數據與非理性溝通氣場。</a:t>
            </a:r>
          </a:p>
          <a:p>
            <a:r>
              <a:t>③ 下一頁轉場：理解定義後，下一頁我們用「版型 3：結合論法」鳥瞰全書 6 講的金字塔體系。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3：結合論法 (Combined Tree) ｜ McKinsey &amp; Company</a:t>
            </a:r>
          </a:p>
          <a:p>
            <a:r>
              <a:t>① 本頁結論：全書由 1 個認知核心、3 個業務層次、2 道能力防線共同組成缺一不可的結合系統。</a:t>
            </a:r>
          </a:p>
          <a:p>
            <a:r>
              <a:t>② 補充說明：只懂價格與條件技巧但缺乏心態底氣，遇強敵必潰；只有心態而無三層轉換工具，則無法破局。</a:t>
            </a:r>
          </a:p>
          <a:p>
            <a:r>
              <a:t>③ 下一頁轉場：接下來進入第 1 講，用「版型 6：對立論法」剖析談判最常見的認知陷阱：表面訴求 vs. 真實需求。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6：對立論法 (Opposition) ｜ McKinsey &amp; Company</a:t>
            </a:r>
          </a:p>
          <a:p>
            <a:r>
              <a:t>① 本頁結論：表面訴求往往只有一條窄路，但背後的真實需求卻有千百種替代解法。</a:t>
            </a:r>
          </a:p>
          <a:p>
            <a:r>
              <a:t>② 補充說明：當對方提出看似無理的要求時，切勿立刻反駁，先連問三個為什麼找出背後的真實限制。</a:t>
            </a:r>
          </a:p>
          <a:p>
            <a:r>
              <a:t>③ 下一頁轉場：看懂真實需求後，下一頁我們用「版型 5：麥肯錫論法」展示如何將談判從價格戰升級到條件與價值戰。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 (McKinsey Argumentation) ｜ McKinsey &amp; Company</a:t>
            </a:r>
          </a:p>
          <a:p>
            <a:r>
              <a:t>① 本頁結論：低手在價格層死磕，中手在條件層作交換，高手在價值層做大蛋糕。</a:t>
            </a:r>
          </a:p>
          <a:p>
            <a:r>
              <a:t>② 補充說明：任何談判卡關時，先問自己：我現在困在第幾層？能否引入條件變數或外部價值升維破局？</a:t>
            </a:r>
          </a:p>
          <a:p>
            <a:r>
              <a:t>③ 下一頁轉場：接下來進入第 2 講價格類談判，我們先用「版型 1：一對一論法」看懂如何拆解成本與鎖定底線。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1：一對一論法 (One-to-One) ｜ McKinsey &amp; Company</a:t>
            </a:r>
          </a:p>
          <a:p>
            <a:r>
              <a:t>① 本頁結論：價格談判的第一步不是開口殺價，而是算清己方機會成本底線，並用成本拆解法擠出對方報價水分。</a:t>
            </a:r>
          </a:p>
          <a:p>
            <a:r>
              <a:t>② 補充說明：圖表中前四項剛性成本以灰階呈現，代表無須浪費口舌；唯有最右側 32% 銷售與超額毛利才是主攻靶心。</a:t>
            </a:r>
          </a:p>
          <a:p>
            <a:r>
              <a:t>③ 下一頁轉場：算清底線與對方成本後，到底該誰先開價？下一頁用「版型 8：BCG 2×2 矩陣」給出精準決策。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8：BCG 論法 (BCG 2×2 Matrix) ｜ McKinsey &amp; Company</a:t>
            </a:r>
          </a:p>
          <a:p>
            <a:r>
              <a:t>① 本頁結論：先開價還是後開價？唯一判準就是「資訊掌握度」；且無論先後手，報出價格後必須嚴守「沉默鐵律」。</a:t>
            </a:r>
          </a:p>
          <a:p>
            <a:r>
              <a:t>② 補充說明：許多業務一報完價就心虛自己解釋「如果您覺得貴我們還可以談」，這等於當場自毀錨點。</a:t>
            </a:r>
          </a:p>
          <a:p>
            <a:r>
              <a:t>③ 下一頁轉場：開價之後進入拉鋸階段，如何讓步才能既促成交易又不被得寸進尺？下一頁用「版型 4：連鎖論法」解析。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4：連鎖論法 (Chain / Flow) ｜ McKinsey &amp; Company</a:t>
            </a:r>
          </a:p>
          <a:p>
            <a:r>
              <a:t>① 本頁結論：絕對不可等幅讓步（如連降三次 3%），那會讓對手認為你還有無限空間。</a:t>
            </a:r>
          </a:p>
          <a:p>
            <a:r>
              <a:t>② 補充說明：遞減讓步（6%→3%→1%→0.5%）能精準操控對手的心理預期，讓對方在最後拿到 0.5% 時產生「已經榨乾你底線」的勝利感。</a:t>
            </a:r>
          </a:p>
          <a:p>
            <a:r>
              <a:t>③ 下一頁轉場：當價格讓步到第 4 輪仍無法成交時，就必須進入第 3 講「條件類談判」，我們用「版型 2：並列論法」展開。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(Parallel) ｜ McKinsey &amp; Company</a:t>
            </a:r>
          </a:p>
          <a:p>
            <a:r>
              <a:t>① 本頁結論：條件類談判的鐵律是：永遠不要做無條件的讓步，每一項退讓都必須掛鉤「如果…就…」。</a:t>
            </a:r>
          </a:p>
          <a:p>
            <a:r>
              <a:t>② 補充說明：在進場前把所有條款填入這三欄卡片，談判時就能像打牌一樣有條不紊地出牌交換。</a:t>
            </a:r>
          </a:p>
          <a:p>
            <a:r>
              <a:t>③ 下一頁轉場：除了桌上的條款交換，桌下還有一個決定誰怕誰的關鍵槓桿——BATNA，下一頁用「版型 7：比較論法」解析。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7：比較論法 (Comparison) ｜ McKinsey &amp; Company</a:t>
            </a:r>
          </a:p>
          <a:p>
            <a:r>
              <a:t>① 本頁結論：最好的條件交換是「我給你的對我來說很便宜，但對你來說價值連城」，而 BATNA 則是支撐交換的底氣。</a:t>
            </a:r>
          </a:p>
          <a:p>
            <a:r>
              <a:t>② 補充說明：永遠不要在只有唯一選項時上談判桌；進場前先培育己方 BATNA，並委婉提醒對方更換合作夥伴的隱性風險。</a:t>
            </a:r>
          </a:p>
          <a:p>
            <a:r>
              <a:t>③ 下一頁轉場：當桌面上所有條款都換完仍無法滿足雙方野心時，就進入最高段位的第 4 講「價值類談判」，請看下一頁。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3：結合論法 (Combined Tree) ｜ McKinsey &amp; Company</a:t>
            </a:r>
          </a:p>
          <a:p>
            <a:r>
              <a:t>① 本頁結論：價值類談判的核心思維是：不要只盯著對方的口袋，要盯著「對方怎麼從他的客戶口袋裡賺到更多錢」。</a:t>
            </a:r>
          </a:p>
          <a:p>
            <a:r>
              <a:t>② 補充說明：當你能證明你的方案能幫對方創造 500 萬新增營收時，對方根本不會再跟你計較 50 萬的差價。</a:t>
            </a:r>
          </a:p>
          <a:p>
            <a:r>
              <a:t>③ 下一頁轉場：要在價值類談判中成功推動增量方案，必須學會「搭順風車」並搞定對方內部三個關鍵角色，下一頁用「版型 5：麥肯錫論法」拆解。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 (McKinsey Argumentation) ｜ McKinsey &amp; Company</a:t>
            </a:r>
          </a:p>
          <a:p>
            <a:r>
              <a:t>① 本頁結論：許多好方案胎死腹中，是因為只討好了老闆（決策者），卻因為增加了一線窗口（執行者）的麻煩而被暗中卡死。</a:t>
            </a:r>
          </a:p>
          <a:p>
            <a:r>
              <a:t>② 補充說明：順風車法則就是：不要求對方為了你改變航向，而是證明你的方案能讓他們原本就要去的目的地更快達成。</a:t>
            </a:r>
          </a:p>
          <a:p>
            <a:r>
              <a:t>③ 下一頁轉場：掌握了價格、條件、價值三層武器後，接下來進入第 5 講「心態管理防線」，我們用「版型 6：對立論法」對比兩種截然不同的談判氣場。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6：對立論法 (Opposition) ｜ McKinsey &amp; Company</a:t>
            </a:r>
          </a:p>
          <a:p>
            <a:r>
              <a:t>① 本頁結論：談判桌上最危險的敵人不是對手，而是你內心「害怕談崩」的恐懼感。</a:t>
            </a:r>
          </a:p>
          <a:p>
            <a:r>
              <a:t>② 補充說明：記住湯君健老師的金句：當你做好隨時離桌的準備時，你往往最不需要離桌；因為對手能感受到你的堅定邊界。</a:t>
            </a:r>
          </a:p>
          <a:p>
            <a:r>
              <a:t>③ 下一頁轉場：當對手使出各種暗黑心理戰術施壓時，我們該如何拆招？下一頁用「版型 5：麥肯錫論法」解析五大心理戰的積極防禦。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 (McKinsey Argumentation) ｜ McKinsey &amp; Company</a:t>
            </a:r>
          </a:p>
          <a:p>
            <a:r>
              <a:t>① 本頁結論：積極防禦不是跟對手硬碰硬吵架，而是「溫和但堅定地讓對方知道：我看穿你的套路了，這招對我無效」。</a:t>
            </a:r>
          </a:p>
          <a:p>
            <a:r>
              <a:t>② 補充說明：只要你點破對方的心理戰術（如切香腸、紅白臉），對手的施壓槓桿就會瞬間失效，乖乖回到理性談判桌。</a:t>
            </a:r>
          </a:p>
          <a:p>
            <a:r>
              <a:t>③ 下一頁轉場：心態穩住後，開口說話的姿態與拒絕話術該如何設計？下一頁用「版型 4：連鎖論法」掌握第 6 講的語言防線。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4：連鎖論法 (Chain / Flow) ｜ McKinsey &amp; Company</a:t>
            </a:r>
          </a:p>
          <a:p>
            <a:r>
              <a:t>① 本頁結論：會談判的人說「不」的時候，聽起來像是在說「我們可以這樣合作」。</a:t>
            </a:r>
          </a:p>
          <a:p>
            <a:r>
              <a:t>② 補充說明：把「同理肯定 ＋ 客觀理由 ＋ 替代方案」練成肌肉記憶，你在職場與商場上就再也不會當軟柿子，也不會得罪人。</a:t>
            </a:r>
          </a:p>
          <a:p>
            <a:r>
              <a:t>③ 下一頁轉場：學完六講全部精髓後，下一頁我們用「版型 1：一對一論法」檢視跨模組整合的價值飛躍。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1：一對一論法 (One-to-One) ｜ McKinsey &amp; Company</a:t>
            </a:r>
          </a:p>
          <a:p>
            <a:r>
              <a:t>① 本頁結論：從佛系退讓（0.65x）到三層價值共創（2.40x），談判能力的升級直接決定了個人與企業的利潤天花板。</a:t>
            </a:r>
          </a:p>
          <a:p>
            <a:r>
              <a:t>② 補充說明：注意圖表中前四個階段皆為灰階基準，唯有將價格、條件、價值與兩道防線融會貫通，才能創造 2.4 倍的標竿報酬。</a:t>
            </a:r>
          </a:p>
          <a:p>
            <a:r>
              <a:t>③ 下一頁轉場：最後一頁（第 16 頁），我們用「版型 2：並列論法」為您奉上進場前 15 分鐘必填的《談判前一頁紙作戰畫布》。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(Parallel) ｜ McKinsey &amp; Company</a:t>
            </a:r>
          </a:p>
          <a:p>
            <a:r>
              <a:t>① 本頁結論：談判的勝負，80% 在上談判桌之前的準備工作就已經決定了。</a:t>
            </a:r>
          </a:p>
          <a:p>
            <a:r>
              <a:t>② 補充說明：請將這頁「三大並列作戰模組」列印出來或存在手機裡，每次談薪資、談採購、談大客戶前花 15 分鐘填寫，立即見效。</a:t>
            </a:r>
          </a:p>
          <a:p>
            <a:r>
              <a:t>③ 下一頁轉場：感謝各位完成《有效提升你的談判能力》無雜訊顧問簡報課程，祝各位在每一場談判中都能優雅實現「我要」的目標！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463040"/>
            <a:ext cx="164592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ZERO-NOISE CONSULTING BRIEFING  |  COURSE #001  |  McKinsey &amp; Company Style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《有效提升你的談判能力》：解決「我要」問題的無雜訊實戰體系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404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核心主張：談判是運用決策中的理性與非理性因素，以己方目標（我要）為先，與對手聯手找到解決方案。全簡報採用「無雜訊 8 大顧問版型」重構，3 秒鎖定結論與證據。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BAC4D2"/>
                </a:solidFill>
              </a:defRPr>
            </a:pPr>
            <a:r>
              <a:t>原著：湯君健（前寶潔 P&amp;G 銷售渠道總監、大型電商企業大學校長）｜ 適用對象：入門基礎 (L1) ➔ 進階實戰 (L2) ➔ 高階破局 (L3)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發刊詞：核心定義（L1 入門基礎）  ｜  版型 7：比較論法 (Comparison)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2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主張：談判是解決「我要」的問題——避開爭吵與退讓兩極誤區，以「可靠」特質共創方案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比較缺乏談判能力的兩極失敗反應（④ 差異點），在中央交集確立湯君健「三要素」專家模型（③ 核心解方）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湯君健《有效提升你的談判能力》發刊詞 ｜ 無雜訊版型 7：比較論法（兩極誤區 vs. 中央可靠交集）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34747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474720" cy="41148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79" y="1965960"/>
            <a:ext cx="34747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51C2C"/>
                </a:solidFill>
              </a:defRPr>
            </a:pPr>
            <a:r>
              <a:t>❌ 誤區 A：衝突升級（④ 差異點）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行為特徵：將談判當作唇槍舌劍的辯論，只想在口頭上壓倒對方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決策盲點：只爭表面立場與面子，完全忽略實質利益交換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最終後果：引發對方強烈防禦，導致關係破裂、合作破局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D97706"/>
                </a:solidFill>
              </a:defRPr>
            </a:pPr>
            <a:r>
              <a:t>🏆 專家核心交集：解決「我要」三要素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① 調動【理性（數據/利益）＋非理性（情緒/面子）】雙重決策因素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② 始終堅持【以己方目標（我要）為先】，絕不無故放棄核心利益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③ 與對方【聯手找到解決方案】，將零和對抗轉為合作博弈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★ 高手唯一特質＝「可靠」（原則性強、守承諾、遇阻找方案、換位思考）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1E3A8A"/>
                </a:solidFill>
              </a:defRPr>
            </a:pPr>
            <a:r>
              <a:t>❌ 誤區 B：佛系退讓（④ 差異點）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行為特徵：害怕衝突傷和氣，淪為任人宰割的「軟柿子」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決策盲點：購車買房接受原價、升職加薪與部門資源從不敢開口爭取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最終後果：假裝佛系無欲無求，實則因缺乏方法論而長期流失應得利益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全課架構總覽（L1 入門基礎）  ｜  版型 3：結合論法 (Combined Tree)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3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結論：透過「業務突破三層次」與「能力底盤雙防線」同時成立，構建雙贏談判系統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結合論法：唯有外部三層談判模型（價格・條件・價值）與內部兩大防線（心態・姿態）同時具備，方能達成頂層目標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湯君健《有效提升你的談判能力》全書 6 講體系圖 ｜ 無雜訊版型 3：結合論法（金字塔演繹支撐樹）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783080"/>
            <a:ext cx="8138160" cy="731520"/>
          </a:xfrm>
          <a:prstGeom prst="round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① 頂層核心目標：解決「我要」的問題，實現己方利益最大化與雙方合作閉環（第 1 講：正確認識談判）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② 主要素 1：外部業務突破三層次（依複雜度逐級拉升）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價格類談判（第2講）</a:t>
            </a:r>
            <a:br/>
            <a:r>
              <a:t>單一價格零和博弈：錨定機會成本底線、拆解對方成本、掌控開價先後手与遞減讓步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850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9944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條件類談判（第3講）</a:t>
            </a:r>
            <a:br/>
            <a:r>
              <a:t>多維條款交換博弈：條款三級分類、善用「如果…就…」假設提問與 BATNA 替代方案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692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價值類談判（第4講）</a:t>
            </a:r>
            <a:br/>
            <a:r>
              <a:t>增量價值共創博弈：重構價值鏈三角形、設計順風車提案、精準攻略決策三角色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② 主要素 2：內部能力底盤雙防線（支撐所有實戰的基石）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840480"/>
            <a:ext cx="2528315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3931920"/>
            <a:ext cx="23454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心態管理防線（第5講）</a:t>
            </a:r>
            <a:br/>
            <a:r>
              <a:t>培育「隨時準備離桌」底氣，保持情緒中立，以積極防禦破解對手五大心理戰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9115" y="3840480"/>
            <a:ext cx="2528315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0555" y="3931920"/>
            <a:ext cx="23454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姿態與語言防線（第6講）</a:t>
            </a:r>
            <a:br/>
            <a:r>
              <a:t>建立「開放、自控、堅定」三支柱姿態，運用三步拒絕公式守住底線不傷關係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1 講：正確認識談判（L1 入門基礎）  ｜  版型 6：對立論法 (Opposition)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4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主張：談判破局源於困在「表面訴求」；唯有穿透背後的「真實需求」，才能化解零和對立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針對同一衝突情境，沿四大評估維度正反對照「見解 A：糾結表面立場」與「見解 B：挖掘底層利益」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1 講 ｜ 無雜訊版型 6：對立論法（表面立場 vs. 真實需求多維對照）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828800"/>
            <a:ext cx="42976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見解 A：困在表面訴求（新手零和死局）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828800"/>
            <a:ext cx="429768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見解 B：穿透真實需求（專家雙贏破局 ★）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468880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關注焦點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468880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緊盯對方口頭喊出的單一立場（如：必須降價 15%、必須拿到這顆橘子）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2468880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追問立場背後的底層動機：為什麼要？用來解決什麼業務或個人痛點？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47288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分橘子案例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447288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姊妹爭搶同一顆橘子，表面折衷「一人切一半」，結果雙方皆只拿到 50% 價值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3447288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問出姊姊要「果肉榨汁」、妹妹要「果皮烤蛋糕」，100% 果肉＋100% 果皮雙贏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25696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商務議價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0" y="4425696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客戶要求降價 10%，業務只能在「直接拒絕流失訂單」或「犧牲毛利硬吞」間二選一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4425696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診斷出客戶真實需求為「本季預算不足」或「需向主管交差」，改以分期或贈品化解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404104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提問工具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5404104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8920" y="5477256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封閉式詰問與反駁：「我們成本很高，怎麼可能再降？」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0" y="5404104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5477256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開放式深挖三問：「此條件對貴司最關鍵的考量是什麼？若調整 A 能否解決 B？」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1 講：正確認識談判（L1–L2 進階）  ｜  版型 5：麥肯錫論法 (McKinsey Argumentation)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5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主張：當單一價格談判陷入僵局時，必須主動向上切換至「條件類」與「價值類」談判模型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橫軸按「三大談判模型演進階段」展開，縱軸拆解「僵局診斷信號」與「跨層破局解方」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1 講 ｜ 無雜訊版型 5：麥肯錫論法（三層模型演進 × 診斷與解方矩陣）</a:t>
            </a:r>
          </a:p>
        </p:txBody>
      </p:sp>
      <p:sp>
        <p:nvSpPr>
          <p:cNvPr id="7" name="Chevron 6"/>
          <p:cNvSpPr/>
          <p:nvPr/>
        </p:nvSpPr>
        <p:spPr>
          <a:xfrm>
            <a:off x="2834640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階段 1：價格類談判（零和）</a:t>
            </a:r>
          </a:p>
        </p:txBody>
      </p:sp>
      <p:sp>
        <p:nvSpPr>
          <p:cNvPr id="8" name="Chevron 7"/>
          <p:cNvSpPr/>
          <p:nvPr/>
        </p:nvSpPr>
        <p:spPr>
          <a:xfrm>
            <a:off x="5770778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階段 2：條件類談判（交換）</a:t>
            </a:r>
          </a:p>
        </p:txBody>
      </p:sp>
      <p:sp>
        <p:nvSpPr>
          <p:cNvPr id="9" name="Chevron 8"/>
          <p:cNvSpPr/>
          <p:nvPr/>
        </p:nvSpPr>
        <p:spPr>
          <a:xfrm>
            <a:off x="8706916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階段 3：價值類談判（共創 ★）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606040"/>
            <a:ext cx="1920240" cy="16916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要素 1：</a:t>
            </a:r>
            <a:br/>
            <a:r>
              <a:t>僵局與痛點診斷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買賣雙方僅圍繞單一數字（單價/薪資）拉鋸；你多賺 1 元即我少賺 1 元，極易陷入死胡同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70778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938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單靠價格讓步已觸及紅線，若不引入交期、帳期、數量、保固等非價格變數，交易即將破局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6916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4076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現有合約框架內的條款交換已達極限，雙方仍存在預算缺口或策略目標落差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80560"/>
            <a:ext cx="1920240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要素 2：</a:t>
            </a:r>
            <a:br/>
            <a:r>
              <a:t>跨層破局解方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守住機會成本底線，拒絕無條件降價，並立刻盤點可綁定交換的周邊條件（升維至階段 2）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0778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07938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運用「如果貴司接受條件 A，我方即可提供優惠 B」進行不等價交換，創造組合包價值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44076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跳出既有買賣標的，重構價值鏈三角形或引入第三方資源搭順風車，把餅做大實現增量雙贏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2 講：價格類談判（L1–L2 進階）  ｜  版型 1：一對一論法 (One-to-One)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6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主張：破解 18 萬設備報價的關鍵，在於拆解成本結構並鎖定「32% 可協商水分」集中議價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單一強證據長條圖：將 4 項剛性與固定成本設為中性灰階，唯獨焦點「可壓縮毛利與銷售費用」以琥珀金高亮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2 講（18 萬設備採購實例）｜ 無雜訊版型 1：一對一論法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5316" y="2286000"/>
            <a:ext cx="777240" cy="3474720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8156" y="193852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38% (剛性)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2436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直接原料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8627" y="4389120"/>
            <a:ext cx="777240" cy="1371600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1468" y="404164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15% (剛性)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5747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製造人工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91940" y="4846320"/>
            <a:ext cx="777240" cy="914399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4780" y="449884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10% (固定)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9060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研發攤提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5252" y="5303520"/>
            <a:ext cx="777240" cy="457199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8092" y="495604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5% (固定)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2372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物流安裝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98564" y="2834640"/>
            <a:ext cx="777240" cy="292607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1404" y="248716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51C2C"/>
                </a:solidFill>
              </a:defRPr>
            </a:pPr>
            <a:r>
              <a:t>32% (議價焦點★)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5684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銷售與超額毛利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2011680"/>
            <a:ext cx="3200400" cy="3749039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194560"/>
            <a:ext cx="2834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② 價格底線與拆解法則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【己方底線＝機會成本】：不是憑感覺定底線，而是「不與對方成交時，次佳替代選項的真實價值」。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【拒絕籠統砍價】：外行喊「太貴了算便宜點」，內行拆解原料、人工、攤提，直指 32% 超額水分。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【規模攤提槓桿】：若後續有追加採購量，可進一步要求對方免除 10% 研發攤提成本。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2 講：價格類談判（L2 進階實戰）  ｜  版型 8：BCG 論法 (BCG 2×2 Matrix)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7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主張：依「資訊掌握度」決定開價先後手——資訊充分時先手錨定，資訊不足時後手拆解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以「對市場與對手底線之資訊掌握度 (X軸)」與「開價行動策略 (Y軸)」構成 2×2 決策矩陣，並嚴守報價後沉默鐵律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2 講 ｜ 無雜訊版型 8：BCG 論法（開價先後手 2×2 策略矩陣）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74519"/>
            <a:ext cx="1371600" cy="3749039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② 開價策略軸 (Y)</a:t>
            </a:r>
            <a:br/>
            <a:br/>
            <a:r>
              <a:t>主動先開價</a:t>
            </a:r>
            <a:br/>
            <a:r>
              <a:t>(先手錨定 Y2)</a:t>
            </a:r>
            <a:br/>
            <a:r>
              <a:t>▲</a:t>
            </a:r>
            <a:br/>
            <a:r>
              <a:t>│</a:t>
            </a:r>
            <a:br/>
            <a:r>
              <a:t>▼</a:t>
            </a:r>
            <a:br/>
            <a:r>
              <a:t>引導對方先開價</a:t>
            </a:r>
            <a:br/>
            <a:r>
              <a:t>(後手反制 Y1)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760720"/>
            <a:ext cx="9052560" cy="438912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◄ 資訊嚴重不對稱／摸不清底線 (X1)          ② 資訊掌握度軸 (X)          完全掌握成本結構與行情 (X2) 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874519"/>
            <a:ext cx="4434840" cy="18105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011679"/>
            <a:ext cx="406907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③ (X1Y2) 盲目先開價 ❌ 高風險禁區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在不清楚行情時貿然先報價，極易陷入「報太高被當外行踢出局」或「報太低瞬間損失利潤（贏家的詛咒）」。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874519"/>
            <a:ext cx="4434840" cy="1810512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2011679"/>
            <a:ext cx="406907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51C2C"/>
                </a:solidFill>
              </a:defRPr>
            </a:pPr>
            <a:r>
              <a:t>③ (X2Y2) 精準先手錨定 ★ 黃金主攻象限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完全掌握對方成本與市場行情時，主動搶先開出「貼近對方底線的極端合理價」，發揮心理錨定效應，並於報價後立刻【閉嘴沉默】等待回應。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3822191"/>
            <a:ext cx="4434840" cy="18105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3959352"/>
            <a:ext cx="406907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③ (X1Y1) 誘敵後手拆解 ★ 資訊不足標準解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摸不清底細時絕不先亮牌，引導對方先報價；聽完報價後先展現驚訝反應，再要求逐項拆解成本結構以奪回主動權。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3822191"/>
            <a:ext cx="4434840" cy="18105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959352"/>
            <a:ext cx="406907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③ (X2Y1) 被動讓出錨點 ⚠️ 錯失先機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明明掌握充分數據卻過度保守不敢先開價，反而讓對方先拋出高錨點，被迫在對方的價格座標系內苦苦追趕。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2 講：價格類談判（L2 進階實戰）  ｜  版型 4：連鎖論法 (Chain / Flow)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8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主張：價格讓步必須遵循「幅度遞減、節奏放緩」四步連鎖法則，向對手傳遞底線枯竭信號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因為讓步過快會誘發對方貪婪心理，故必須透過 6% ➔ 3% ➔ 1% ➔ 0.5% 的因果序列塑造「每一分錢皆得來不易」的價值感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2 講 ｜ 無雜訊版型 4：連鎖論法（遞減讓步四階段序列）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520" y="1874519"/>
            <a:ext cx="10728655" cy="384048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② 價格拉鋸時間軸：讓步幅度逐輪遞減 (6% → 3% → 1% → 0.5%)、審批難度逐輪升高  ───►</a:t>
            </a:r>
          </a:p>
        </p:txBody>
      </p:sp>
      <p:sp>
        <p:nvSpPr>
          <p:cNvPr id="8" name="Chevron 7"/>
          <p:cNvSpPr/>
          <p:nvPr/>
        </p:nvSpPr>
        <p:spPr>
          <a:xfrm>
            <a:off x="731520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第 1 輪：釋放誠意 (-6%)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回應對方首次殺價，給出最大單次讓步（如降價 6%）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同步要求對方確認採購意向與基本規格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傳遞信號：我方極具合作誠意</a:t>
            </a:r>
          </a:p>
        </p:txBody>
      </p:sp>
      <p:sp>
        <p:nvSpPr>
          <p:cNvPr id="11" name="Chevron 10"/>
          <p:cNvSpPr/>
          <p:nvPr/>
        </p:nvSpPr>
        <p:spPr>
          <a:xfrm>
            <a:off x="3470833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第 2 輪：幅度減半 (-3%)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0833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3713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面對二次施壓，讓步幅度立刻縮減一半（僅降 3%）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明確綁定條件：需提高首付款比例或縮短驗收期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傳遞信號：利潤空間已大幅收窄</a:t>
            </a:r>
          </a:p>
        </p:txBody>
      </p:sp>
      <p:sp>
        <p:nvSpPr>
          <p:cNvPr id="14" name="Chevron 13"/>
          <p:cNvSpPr/>
          <p:nvPr/>
        </p:nvSpPr>
        <p:spPr>
          <a:xfrm>
            <a:off x="6210147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第 3 輪：艱難擠出 (-1%)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27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拉長回覆時間，表示需向總部高層特別申請（僅降 1%）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若對方威脅離桌，先判讀「還能坐著談＝假離桌」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傳遞信號：已逼近公司紅線底線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9461" y="2468880"/>
            <a:ext cx="2510713" cy="777240"/>
          </a:xfrm>
          <a:prstGeom prst="chevron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第 4 輪：尾數封頂 (-0.5%★)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9461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2341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以精確非整數尾數（如 0.45%）作為最終讓步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要求當場簽署意向書，鎖定雙贏成交區間 (ZOPA)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傳遞信號：一滴水都擠不出來了，對方獲得贏家滿足感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3 講：條件類談判（L2 進階實戰）  ｜  版型 2：並列論法 (Parallel)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9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主張：進場前將合約條款並列分為「三級籌碼」，並以「如果…就…」假設提問測試交換空間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將複雜合約拆解為三個同構等級並列管理，徹底杜絕「單方面無償讓步」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3 講 ｜ 無雜訊版型 2：並列論法（合約條款三級分類與假設交換）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等級 1：重要條款（核心紅線）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定義：直接決定「我要」目標成敗的核心利益（如總毛利額、核心IP歸屬、關鍵交期）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操作原則：寸土不讓；若對方要求退讓，必須拿對等甚至更高價值的條件來換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話術範例：「若要調整單價，貴司能否將年度保底採購量提升至 5 萬件？」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等級 2：次要條款（交換籌碼 ★）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定義：具有彈性空間、雙方估值不同的商務條件（如付款帳期、分批交貨、保固年限、培訓時數）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操作原則：作為主力的「如果…就…」交換武器，用己方低成本條件換取對方高價值讓步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話術範例：「如果貴司同意月結 30 天改為預付 50%，我們就免費延長半年保固。」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④ 等級 3：無關緊要條款（順水人情）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定義：對己方幾乎零成本，但對方可能因面子或內部流程而在意的細節條款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操作原則：切勿一開始就免費奉送！留到談判尾聲作為「給足對方面子」的臨門一腳贈禮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話術範例：「既然雙方合作愉快，這批樣品的特快專遞費用就由我方全額吸收。」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3 講：條件類談判（L2 進階實戰）  ｜  版型 7：比較論法 (Comparison)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10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主張：善用雙方估值差異進行「不等價條件交換」，並以 BATNA（最佳替代方案）強化議價槓桿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比較甲乙雙方的資源稟賦差異（④ 差異點），在中央交集透過條件互換與 BATNA 底氣創造超額雙贏（③ 共通交集）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3 講 ｜ 無雜訊版型 7：比較論法（甲乙方差異化籌碼與 BATNA 交集）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34747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474720" cy="41148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79" y="1965960"/>
            <a:ext cx="34747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51C2C"/>
                </a:solidFill>
              </a:defRPr>
            </a:pPr>
            <a:r>
              <a:t>① 甲方（買方）高價值籌碼（④ 差異點）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資金充裕度高：縮短帳期（如 90 天改現結）對甲方財務成本極低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採購規模與預測：可提供長約保底量或淡季提前下單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品牌背書效應：願意授權乙方列為標竿客戶案例或聯合公關宣傳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D97706"/>
                </a:solidFill>
              </a:defRPr>
            </a:pPr>
            <a:r>
              <a:t>③ 交集：BATNA 槓桿 × 條件互換閉環 ★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【不等價交換核心】：用己方「低成本、高供給」條件，換取對方「高痛點、高估值」條件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【培育己方 BATNA】：隨時準備好 2～3 家合格備選方案，備胎愈強，談判底氣愈硬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【削弱對方 BATNA】：凸顯我方獨有轉換成本與客製化服務，讓對方意識到換供應商風險極高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1E3A8A"/>
                </a:solidFill>
              </a:defRPr>
            </a:pPr>
            <a:r>
              <a:t>① 乙方（賣方）高價值籌碼（④ 差異點）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技術與服務彈性：提供駐場工程師支援、客製化接口開發或免費培訓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庫存與交期優先權：旺季優先排產、免費提供安全庫存代管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價格結構重組：維持牌價不變（保住行情），改以年度返利 (Rebate) 回饋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4 講：價值類談判（L3 高階破局）  ｜  版型 3：結合論法 (Combined Tree)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11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結論：高階談判透過「重構價值鏈三角形」與「導入第三方增量資源」，將零和博弈轉為共生增量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結合論法：跳出單純買賣雙方的二元對立，同時拉動「客戶的客戶」與「跨界合作夥伴」才能徹底做大蛋糕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4 講 ｜ 無雜訊版型 3：結合論法（價值鏈三角形與增量價值樹）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783080"/>
            <a:ext cx="8138160" cy="731520"/>
          </a:xfrm>
          <a:prstGeom prst="round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① 頂層高階破局結論：從「分蛋糕（爭奪存量利潤）」躍升為「做大蛋糕（共創增量價值）」，讓對手無法拒絕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② 主要素 1：重構「我方—對方—對方客戶」價值鏈三角形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2528315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23454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幫對方賺錢（開源）</a:t>
            </a:r>
            <a:br/>
            <a:r>
              <a:t>不只賣產品給客戶，更提供能幫客戶「向他的終端顧客提價或擴銷」的整體解決方案（如寶潔幫零售商做品類管理）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6996" y="3840480"/>
            <a:ext cx="2528315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8436" y="3931920"/>
            <a:ext cx="23454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幫對方省錢（節流）</a:t>
            </a:r>
            <a:br/>
            <a:r>
              <a:t>重新設計供應鏈、包裝規格或驗收流程，直接降低對方內部的倉儲、物流與人力營運損耗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② 主要素 2：引入合約外的「第三方資源與跨期價值」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840480"/>
            <a:ext cx="2528315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79" y="3931920"/>
            <a:ext cx="23454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異業流量與資源嫁接</a:t>
            </a:r>
            <a:br/>
            <a:r>
              <a:t>將己方生態系的通路、數據或異業夥伴資源導入合作案，用外部增量補貼當前價格缺口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9115" y="3840480"/>
            <a:ext cx="2528315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0555" y="3931920"/>
            <a:ext cx="23454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跨期利益與風險共擔</a:t>
            </a:r>
            <a:br/>
            <a:r>
              <a:t>設計「基礎保底價＋超額績效分潤」對賭機制，化解對方短期預算恐懼並鎖定長期深度綁定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4 講：價值類談判（L3 高階破局）  ｜  版型 5：麥肯錫論法 (McKinsey Argumentation)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12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主張：精準識別對方組織內「決策者・影響者・執行者」三大角色，以「順風車提案」對齊各方利益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橫軸展開 B2B 談判對手內部三大角色鏈，縱軸對應「角色核心痛點診斷」與「順風車價值掛鉤解方」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4 講 ｜ 無雜訊版型 5：麥肯錫論法（決策三角色 × 順風車提案矩陣）</a:t>
            </a:r>
          </a:p>
        </p:txBody>
      </p:sp>
      <p:sp>
        <p:nvSpPr>
          <p:cNvPr id="7" name="Chevron 6"/>
          <p:cNvSpPr/>
          <p:nvPr/>
        </p:nvSpPr>
        <p:spPr>
          <a:xfrm>
            <a:off x="2834640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角色 1：決策者 (拍板老闆)</a:t>
            </a:r>
          </a:p>
        </p:txBody>
      </p:sp>
      <p:sp>
        <p:nvSpPr>
          <p:cNvPr id="8" name="Chevron 7"/>
          <p:cNvSpPr/>
          <p:nvPr/>
        </p:nvSpPr>
        <p:spPr>
          <a:xfrm>
            <a:off x="5770778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角色 2：影響者 (技術/財務專家)</a:t>
            </a:r>
          </a:p>
        </p:txBody>
      </p:sp>
      <p:sp>
        <p:nvSpPr>
          <p:cNvPr id="9" name="Chevron 8"/>
          <p:cNvSpPr/>
          <p:nvPr/>
        </p:nvSpPr>
        <p:spPr>
          <a:xfrm>
            <a:off x="8706916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角色 3：執行者 (一線窗口 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606040"/>
            <a:ext cx="1920240" cy="16916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要素 1：</a:t>
            </a:r>
            <a:br/>
            <a:r>
              <a:t>角色核心痛點與恐懼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關注宏觀戰略、年度營收成長、投資報酬率 (ROI) 與業界競爭地位；沒時間聽技術細節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70778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938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關注專業合規性、技術指標、財務風險可控；雖無最終購買權，但擁有強大的「一票否決權」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6916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4076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關注上線後會不會增加工作量、會不會出包背黑鍋、能否準時下班與順利交差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80560"/>
            <a:ext cx="1920240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要素 2：</a:t>
            </a:r>
            <a:br/>
            <a:r>
              <a:t>順風車提案解方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【搭戰略順風車】：將我方提案直接掛鉤對方公司今年最重要的 CEO 戰略專案，成為其政績推手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0778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07938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【提供專業防盾】：主動提供嚴謹的同業基準數據、合規認證與風控報告，幫專家完美背書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44076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【降低執行阻力】：提供傻瓜化導入包、駐場代辦與現成匯報簡報，讓一線窗口輕鬆立功不背鍋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5 講：心態管理防線（L1–L2 必修）  ｜  版型 6：對立論法 (Opposition)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13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主張：唯有建立「隨時準備離桌」的底氣與情緒中立機制，才能在談判桌上掌握心理制空權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沿四大心理維度正反對照「見解 A：患得患失的弱勢心態」與「見解 B：隨時可離桌的強者心態」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5 講 ｜ 無雜訊版型 6：對立論法（弱勢患得患失 vs. 強者離桌底氣）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828800"/>
            <a:ext cx="42976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見解 A：患得患失心態（害怕破局・情緒失控）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828800"/>
            <a:ext cx="429768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見解 B：隨時離桌心態（底氣充沛・冷靜控場 ★）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468880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底層信念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468880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「這單萬一談不成我就慘了！」把單一交易當成唯一救命稻草，還沒上桌就先矮人一截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2468880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「成交很好，但若低於機會成本底線，我隨時可以優雅離桌！」手握 BATNA 毫無畏懼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47288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面對挑釁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447288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對方一貶低產品或拍桌咆哮，立刻陷入自我懷疑、慌張退讓，或跟著暴怒對罵導致破局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3447288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深知「談判桌上的情緒 80% 是演給你看的工具」，內心毫無波瀾，冷靜觀察對方真實意圖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25696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時間壓力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0" y="4425696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在季度末或截標前夕表現出極度焦慮，被對方一眼看穿急迫感而遭到無情壓價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4425696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遵循「誰更不怕拖延、誰就不怕破局」原則，主動管理議程節奏，絕不暴露己方時間死線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404104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策略性演戲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5404104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8920" y="5477256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把內心真實底牌與喜怒哀樂全部寫在臉上，拿到好價格時掩飾不住得意而引發對方反悔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0" y="5404104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5477256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必要時可「有意識地展現失望、為難或震驚」，但大腦始終保持 100% 理性計算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5 講：心態管理防線（L2 進階實戰）  ｜  版型 5：麥肯錫論法 (McKinsey Argumentation)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14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主張：面對對手三大高頻施壓心理戰，以「看破並溫和點破」的積極防禦矩陣精準拆招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橫軸鎖定商務談判最常見的三大心理戰術（虛張聲勢／得寸進尺／紅白臉與最後通牒），縱軸對應「戰術識別」與「反制解方」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5 講 ｜ 無雜訊版型 5：麥肯錫論法（心理戰識別 × 積極防禦反制矩陣）</a:t>
            </a:r>
          </a:p>
        </p:txBody>
      </p:sp>
      <p:sp>
        <p:nvSpPr>
          <p:cNvPr id="7" name="Chevron 6"/>
          <p:cNvSpPr/>
          <p:nvPr/>
        </p:nvSpPr>
        <p:spPr>
          <a:xfrm>
            <a:off x="2834640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戰術 1：虛張聲勢與貶低打壓</a:t>
            </a:r>
          </a:p>
        </p:txBody>
      </p:sp>
      <p:sp>
        <p:nvSpPr>
          <p:cNvPr id="8" name="Chevron 7"/>
          <p:cNvSpPr/>
          <p:nvPr/>
        </p:nvSpPr>
        <p:spPr>
          <a:xfrm>
            <a:off x="5770778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戰術 2：得寸進尺 (切香腸戰術)</a:t>
            </a:r>
          </a:p>
        </p:txBody>
      </p:sp>
      <p:sp>
        <p:nvSpPr>
          <p:cNvPr id="9" name="Chevron 8"/>
          <p:cNvSpPr/>
          <p:nvPr/>
        </p:nvSpPr>
        <p:spPr>
          <a:xfrm>
            <a:off x="8706916" y="1828800"/>
            <a:ext cx="2753258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戰術 3：紅白臉與最後通牒 ★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606040"/>
            <a:ext cx="1920240" cy="16916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要素 1：</a:t>
            </a:r>
            <a:br/>
            <a:r>
              <a:t>對手施壓手法識別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故意誇大競爭對手優點、貶低我方產品一文不值，或宣稱「別家報價比你們低 30%」企圖摧毀自信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70778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938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在雙方已達成口頭共識後，臨簽約前又不斷提出「順便再送個配件、再抹個零頭」的蠶食要求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6916" y="2606040"/>
            <a:ext cx="2753258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4076" y="274320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一人扮黑臉咆哮施壓、一人扮白臉勸你退讓；或拋出「今天下班前不降價就廢標」的假死線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80560"/>
            <a:ext cx="1920240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要素 2：</a:t>
            </a:r>
            <a:br/>
            <a:r>
              <a:t>積極防禦反制解方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【客觀數據反問】：微笑保持鎮定，請教對方「能否分享競品在某核心指標的配置？為何貴司仍願花時間與我們深談？」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0778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07938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【包裹重算掛鉤】：溫和點破「若需新增此項服務，我們需重新核算整體合約包單價」，讓對方知道每切一刀都要付費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4480560"/>
            <a:ext cx="2753258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44076" y="4617720"/>
            <a:ext cx="247893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【跳過黑臉・測試死線】：直接向決策主導方提問對齊核心利益，並以「若需趕在今日簽約，需請貴司同步免除某程序」測試真偽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第 6 講：姿態與語言管理（L1–L2 必修）  ｜  版型 4：連鎖論法 (Chain / Flow)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15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主張：以「開放・自控・堅定」三支柱姿態為底，執行「肯定 ➔ 理由 ➔ 方案」三步拒絕公式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溫和而堅定地說「不」：絕不直接生硬回絕，亦不唯唯諾諾妥協，透過四步連鎖話術將拒絕轉化為合作提案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湯君健《有效提升你的談判能力》第 6 講 ｜ 無雜訊版型 4：連鎖論法（三支柱姿態 × 三步標準拒絕公式）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520" y="1874519"/>
            <a:ext cx="10728655" cy="384048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② 談判語言防線推進流程：先立三支柱姿態，再走「三步標準拒絕與轉化公式」  ───►</a:t>
            </a:r>
          </a:p>
        </p:txBody>
      </p:sp>
      <p:sp>
        <p:nvSpPr>
          <p:cNvPr id="8" name="Chevron 7"/>
          <p:cNvSpPr/>
          <p:nvPr/>
        </p:nvSpPr>
        <p:spPr>
          <a:xfrm>
            <a:off x="731520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基礎：立三支柱姿態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【開放】：傾聽對方訴求，不預設立場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【自控】：語速平穩、表情克制不失態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【堅定】：對核心底線與原則寸步不讓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效果：外圓內方，贏得對手尊重</a:t>
            </a:r>
          </a:p>
        </p:txBody>
      </p:sp>
      <p:sp>
        <p:nvSpPr>
          <p:cNvPr id="11" name="Chevron 10"/>
          <p:cNvSpPr/>
          <p:nvPr/>
        </p:nvSpPr>
        <p:spPr>
          <a:xfrm>
            <a:off x="3470833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Step 1：先同理與肯定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0833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3713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先接住對方的情緒與合理動機，消除對立防禦感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標準話術：「我非常理解貴司希望壓低首期預算、控制專案風險的考量……」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禁忌：切勿第一句就說「不行、不可能」</a:t>
            </a:r>
          </a:p>
        </p:txBody>
      </p:sp>
      <p:sp>
        <p:nvSpPr>
          <p:cNvPr id="14" name="Chevron 13"/>
          <p:cNvSpPr/>
          <p:nvPr/>
        </p:nvSpPr>
        <p:spPr>
          <a:xfrm>
            <a:off x="6210147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Step 2：給出客觀理由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27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以客觀成本、公司制度或品質標準解釋為何無法答應原要求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標準話術：「但由於核心晶片採用車規級標準，直接降價 15% 將無法通過品控審批……」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原則：對事不對人，理由具體可信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9461" y="2468880"/>
            <a:ext cx="2510713" cy="777240"/>
          </a:xfrm>
          <a:prstGeom prst="chevron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Step 3：拋出替代方案 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9461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2341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立刻緊接「如果…就…」替代選項，把球拋回對方手中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標準話術：「如果貴司能分兩階段驗收，我們可提供首期 40% 延後付款方案，您看如何？」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成果：守住底線同時推動談判向前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跨模組綜合整合（L3 高階實戰）  ｜  版型 1：一對一論法 (One-to-One)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16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主張：將「三層談判模型」結合「顧問式銷售」，可使商務專案價值捕獲率躍升至 2.4 倍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單一核心效益比對：傳統業務推銷與零和殺價（灰階基準） vs. 湯君健「八條因果鏈 × 價值共創系統」（琥珀金焦點）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湯君健《有效提升你的談判能力》全書跨模組整合模型 ｜ 無雜訊版型 1：一對一論法（五種談判段位價值捕獲對比）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5316" y="4819650"/>
            <a:ext cx="777240" cy="941069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8156" y="447217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0.65x 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2436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佛系退讓型</a:t>
            </a:r>
            <a:br/>
            <a:r>
              <a:t>(被動接受原價)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8627" y="4602480"/>
            <a:ext cx="777240" cy="1158240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1468" y="425500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0.80x 價值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5747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強硬爭吵型</a:t>
            </a:r>
            <a:br/>
            <a:r>
              <a:t>(高破局風險)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91940" y="4312920"/>
            <a:ext cx="777240" cy="1447800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4780" y="396544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1.0x (基準)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9060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單純價格殺價型</a:t>
            </a:r>
            <a:br/>
            <a:r>
              <a:t>(零和消耗戰)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5252" y="3516630"/>
            <a:ext cx="777240" cy="2244090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8092" y="316915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1.55x 價值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2372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條件交換型</a:t>
            </a:r>
            <a:br/>
            <a:r>
              <a:t>(多維條款互換)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98564" y="2286000"/>
            <a:ext cx="777240" cy="3474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1404" y="1938528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51C2C"/>
                </a:solidFill>
              </a:defRPr>
            </a:pPr>
            <a:r>
              <a:t>2.40x (焦點★)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5684" y="5833872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三層整合×價值共創</a:t>
            </a:r>
            <a:br/>
            <a:r>
              <a:t>(湯君健完整體系)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2011680"/>
            <a:ext cx="3200400" cy="3749039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194560"/>
            <a:ext cx="2834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② 跨模組整合三大飛輪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【因果鏈貫穿】：從挖掘真實需求 ➔ 鎖定機會成本 ➔ 條款三級交換 ➔ 價值鏈增量，環環相扣。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【顧問式銷售融合】：談判不是銷售結束後才開始，從初次拜訪診斷痛點時就已啟動價值錨定。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【長期複利信譽】：以「可靠」姿態達成雙贏，續約率與轉介紹率大幅領先傳統業務。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全課總結與落地工具（L1–L3 全員必備）  ｜  版型 2：並列論法 (Parallel)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17 /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主張：任何重要談判進場前 15 分鐘，務必填妥「目標底線・三層籌碼・防線話術」三大作戰模組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將全書 6 講濃縮為三欄並列檢核表（One-Page Negotiation Canvas），沒有填完這張表絕不輕易上談判桌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湯君健《有效提升你的談判能力》全課總結作戰畫布 ｜ 無雜訊版型 2：並列論法（進場前 15 分鐘三大檢核模組）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模組 A：目標與底線定位（第 1–2 講）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【我要什麼】：本次談判必須達成的 1 個核心目標與理想錨點價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【對方真實需求】：對方表面立場背後的 3 個底層動機（決策/影響/執行者）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【機會成本底線】：若不成交，我方的次佳替代價值是多少？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4. 【BATNA 預案】：我方手握哪 2 個備選方案？如何削弱對方 BATNA？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5. 【開價與讓步】：本次採先手或後手？4 輪遞減讓步數字（6%/3%/1%/0.5%）為何？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模組 B：條件與價值設計（第 3–4 講 ★）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【重要條款（紅線）】：哪 2 項核心條款寸步不讓？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【次要條款（籌碼）】：準備哪 3 組「如果貴司 A，我方就 B」的交換組合？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【無關緊要條款】：預留哪 2 項低成本順水人情在最後關頭贈送？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4. 【價值鏈三角形】：如何幫對方「向他的客戶多賺錢」或「降低內部成本」？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5. 【順風車提案】：如何將方案掛鉤對方年度戰略，並消除一線窗口阻力？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④ 模組 C：心態與語言防線（第 5–6 講）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【隨時離桌底氣】：若跌破底線，何時、如何優雅中止談判？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【心理戰預判】：對方可能使出哪種施壓（貶低/切香腸/紅白臉）？如何點破？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【三支柱姿態提醒】：全程保持「開放傾聽、情緒自控、原則堅定」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4. 【三步拒絕腳本】：預先寫好「① 同理肯定 ＋ ② 客觀理由 ＋ ③ 替代方案」標準金句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5. 【沉默鐵律】：報出關鍵數字後，提醒自己閉嘴等待對方先開口！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